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embeddedFontLst>
    <p:embeddedFont>
      <p:font typeface="Work Sans" panose="020F0502020204030204" pitchFamily="2" charset="0"/>
      <p:regular r:id="rId17"/>
      <p:bold r:id="rId18"/>
      <p:italic r:id="rId19"/>
      <p:boldItalic r:id="rId20"/>
    </p:embeddedFont>
    <p:embeddedFont>
      <p:font typeface="Work Sans Light" panose="020F0502020204030204" pitchFamily="2" charset="0"/>
      <p:regular r:id="rId21"/>
      <p:bold r:id="rId22"/>
      <p:italic r:id="rId23"/>
      <p:boldItalic r:id="rId24"/>
    </p:embeddedFont>
    <p:embeddedFont>
      <p:font typeface="Work Sans Medium" panose="020F0502020204030204"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gWJaolmwXwo+/arWVkIqenEk+ta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MX"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MX"/>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ca84db1a28_1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g3ca84db1a28_1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ca84db1a28_1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3ca84db1a28_1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938a90d90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938a90d90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g3938a90d90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MX"/>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 name="Google Shape;17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MX"/>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a de título">
  <p:cSld name="1_Diapositiva de título">
    <p:spTree>
      <p:nvGrpSpPr>
        <p:cNvPr id="1" name="Shape 15"/>
        <p:cNvGrpSpPr/>
        <p:nvPr/>
      </p:nvGrpSpPr>
      <p:grpSpPr>
        <a:xfrm>
          <a:off x="0" y="0"/>
          <a:ext cx="0" cy="0"/>
          <a:chOff x="0" y="0"/>
          <a:chExt cx="0" cy="0"/>
        </a:xfrm>
      </p:grpSpPr>
      <p:pic>
        <p:nvPicPr>
          <p:cNvPr id="16" name="Google Shape;16;p17" descr="Interfaz de usuario gráfica, Texto, Aplicación&#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Encabezado de sección">
  <p:cSld name="1_Encabezado de sección">
    <p:spTree>
      <p:nvGrpSpPr>
        <p:cNvPr id="1" name="Shape 17"/>
        <p:cNvGrpSpPr/>
        <p:nvPr/>
      </p:nvGrpSpPr>
      <p:grpSpPr>
        <a:xfrm>
          <a:off x="0" y="0"/>
          <a:ext cx="0" cy="0"/>
          <a:chOff x="0" y="0"/>
          <a:chExt cx="0" cy="0"/>
        </a:xfrm>
      </p:grpSpPr>
      <p:pic>
        <p:nvPicPr>
          <p:cNvPr id="18" name="Google Shape;18;p18"/>
          <p:cNvPicPr preferRelativeResize="0"/>
          <p:nvPr/>
        </p:nvPicPr>
        <p:blipFill rotWithShape="1">
          <a:blip r:embed="rId2">
            <a:alphaModFix/>
          </a:blip>
          <a:srcRect/>
          <a:stretch/>
        </p:blipFill>
        <p:spPr>
          <a:xfrm>
            <a:off x="11027833" y="317431"/>
            <a:ext cx="811391" cy="79058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Encabezado de sección">
  <p:cSld name="2_Encabezado de sección">
    <p:spTree>
      <p:nvGrpSpPr>
        <p:cNvPr id="1" name="Shape 19"/>
        <p:cNvGrpSpPr/>
        <p:nvPr/>
      </p:nvGrpSpPr>
      <p:grpSpPr>
        <a:xfrm>
          <a:off x="0" y="0"/>
          <a:ext cx="0" cy="0"/>
          <a:chOff x="0" y="0"/>
          <a:chExt cx="0" cy="0"/>
        </a:xfrm>
      </p:grpSpPr>
      <p:pic>
        <p:nvPicPr>
          <p:cNvPr id="20" name="Google Shape;20;p19" descr="Patrón de fondo&#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21" name="Google Shape;21;p19"/>
          <p:cNvPicPr preferRelativeResize="0"/>
          <p:nvPr/>
        </p:nvPicPr>
        <p:blipFill rotWithShape="1">
          <a:blip r:embed="rId3">
            <a:alphaModFix/>
          </a:blip>
          <a:srcRect/>
          <a:stretch/>
        </p:blipFill>
        <p:spPr>
          <a:xfrm>
            <a:off x="11054859" y="303050"/>
            <a:ext cx="855785" cy="83398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27"/>
        <p:cNvGrpSpPr/>
        <p:nvPr/>
      </p:nvGrpSpPr>
      <p:grpSpPr>
        <a:xfrm>
          <a:off x="0" y="0"/>
          <a:ext cx="0" cy="0"/>
          <a:chOff x="0" y="0"/>
          <a:chExt cx="0" cy="0"/>
        </a:xfrm>
      </p:grpSpPr>
      <p:sp>
        <p:nvSpPr>
          <p:cNvPr id="28" name="Google Shape;2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31"/>
        <p:cNvGrpSpPr/>
        <p:nvPr/>
      </p:nvGrpSpPr>
      <p:grpSpPr>
        <a:xfrm>
          <a:off x="0" y="0"/>
          <a:ext cx="0" cy="0"/>
          <a:chOff x="0" y="0"/>
          <a:chExt cx="0" cy="0"/>
        </a:xfrm>
      </p:grpSpPr>
      <p:sp>
        <p:nvSpPr>
          <p:cNvPr id="32" name="Google Shape;32;p2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4" name="Google Shape;3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7"/>
        <p:cNvGrpSpPr/>
        <p:nvPr/>
      </p:nvGrpSpPr>
      <p:grpSpPr>
        <a:xfrm>
          <a:off x="0" y="0"/>
          <a:ext cx="0" cy="0"/>
          <a:chOff x="0" y="0"/>
          <a:chExt cx="0" cy="0"/>
        </a:xfrm>
      </p:grpSpPr>
      <p:sp>
        <p:nvSpPr>
          <p:cNvPr id="38" name="Google Shape;3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3"/>
        <p:cNvGrpSpPr/>
        <p:nvPr/>
      </p:nvGrpSpPr>
      <p:grpSpPr>
        <a:xfrm>
          <a:off x="0" y="0"/>
          <a:ext cx="0" cy="0"/>
          <a:chOff x="0" y="0"/>
          <a:chExt cx="0" cy="0"/>
        </a:xfrm>
      </p:grpSpPr>
      <p:sp>
        <p:nvSpPr>
          <p:cNvPr id="44" name="Google Shape;4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6" name="Google Shape;4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9"/>
        <p:cNvGrpSpPr/>
        <p:nvPr/>
      </p:nvGrpSpPr>
      <p:grpSpPr>
        <a:xfrm>
          <a:off x="0" y="0"/>
          <a:ext cx="0" cy="0"/>
          <a:chOff x="0" y="0"/>
          <a:chExt cx="0" cy="0"/>
        </a:xfrm>
      </p:grpSpPr>
      <p:sp>
        <p:nvSpPr>
          <p:cNvPr id="50" name="Google Shape;5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6"/>
        <p:cNvGrpSpPr/>
        <p:nvPr/>
      </p:nvGrpSpPr>
      <p:grpSpPr>
        <a:xfrm>
          <a:off x="0" y="0"/>
          <a:ext cx="0" cy="0"/>
          <a:chOff x="0" y="0"/>
          <a:chExt cx="0" cy="0"/>
        </a:xfrm>
      </p:grpSpPr>
      <p:sp>
        <p:nvSpPr>
          <p:cNvPr id="57" name="Google Shape;5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1" name="Google Shape;6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65"/>
        <p:cNvGrpSpPr/>
        <p:nvPr/>
      </p:nvGrpSpPr>
      <p:grpSpPr>
        <a:xfrm>
          <a:off x="0" y="0"/>
          <a:ext cx="0" cy="0"/>
          <a:chOff x="0" y="0"/>
          <a:chExt cx="0" cy="0"/>
        </a:xfrm>
      </p:grpSpPr>
      <p:sp>
        <p:nvSpPr>
          <p:cNvPr id="66" name="Google Shape;6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70"/>
        <p:cNvGrpSpPr/>
        <p:nvPr/>
      </p:nvGrpSpPr>
      <p:grpSpPr>
        <a:xfrm>
          <a:off x="0" y="0"/>
          <a:ext cx="0" cy="0"/>
          <a:chOff x="0" y="0"/>
          <a:chExt cx="0" cy="0"/>
        </a:xfrm>
      </p:grpSpPr>
      <p:sp>
        <p:nvSpPr>
          <p:cNvPr id="71" name="Google Shape;71;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2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7"/>
        <p:cNvGrpSpPr/>
        <p:nvPr/>
      </p:nvGrpSpPr>
      <p:grpSpPr>
        <a:xfrm>
          <a:off x="0" y="0"/>
          <a:ext cx="0" cy="0"/>
          <a:chOff x="0" y="0"/>
          <a:chExt cx="0" cy="0"/>
        </a:xfrm>
      </p:grpSpPr>
      <p:sp>
        <p:nvSpPr>
          <p:cNvPr id="78" name="Google Shape;78;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9"/>
          <p:cNvSpPr>
            <a:spLocks noGrp="1"/>
          </p:cNvSpPr>
          <p:nvPr>
            <p:ph type="pic" idx="2"/>
          </p:nvPr>
        </p:nvSpPr>
        <p:spPr>
          <a:xfrm>
            <a:off x="5183188" y="987425"/>
            <a:ext cx="6172200" cy="4873625"/>
          </a:xfrm>
          <a:prstGeom prst="rect">
            <a:avLst/>
          </a:prstGeom>
          <a:noFill/>
          <a:ln>
            <a:noFill/>
          </a:ln>
        </p:spPr>
      </p:sp>
      <p:sp>
        <p:nvSpPr>
          <p:cNvPr id="80" name="Google Shape;80;p2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4"/>
        <p:cNvGrpSpPr/>
        <p:nvPr/>
      </p:nvGrpSpPr>
      <p:grpSpPr>
        <a:xfrm>
          <a:off x="0" y="0"/>
          <a:ext cx="0" cy="0"/>
          <a:chOff x="0" y="0"/>
          <a:chExt cx="0" cy="0"/>
        </a:xfrm>
      </p:grpSpPr>
      <p:sp>
        <p:nvSpPr>
          <p:cNvPr id="85" name="Google Shape;85;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3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90"/>
        <p:cNvGrpSpPr/>
        <p:nvPr/>
      </p:nvGrpSpPr>
      <p:grpSpPr>
        <a:xfrm>
          <a:off x="0" y="0"/>
          <a:ext cx="0" cy="0"/>
          <a:chOff x="0" y="0"/>
          <a:chExt cx="0" cy="0"/>
        </a:xfrm>
      </p:grpSpPr>
      <p:sp>
        <p:nvSpPr>
          <p:cNvPr id="91" name="Google Shape;91;p3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3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8.png"/><Relationship Id="rId7" Type="http://schemas.openxmlformats.org/officeDocument/2006/relationships/slide" Target="slide1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slide" Target="slide10.xml"/><Relationship Id="rId11" Type="http://schemas.openxmlformats.org/officeDocument/2006/relationships/image" Target="../media/image7.png"/><Relationship Id="rId5" Type="http://schemas.openxmlformats.org/officeDocument/2006/relationships/slide" Target="slide8.xml"/><Relationship Id="rId10" Type="http://schemas.openxmlformats.org/officeDocument/2006/relationships/image" Target="../media/image6.png"/><Relationship Id="rId4" Type="http://schemas.openxmlformats.org/officeDocument/2006/relationships/slide" Target="slide5.xml"/><Relationship Id="rId9" Type="http://schemas.openxmlformats.org/officeDocument/2006/relationships/slide" Target="slide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hyperlink" Target="http://node.js"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hyperlink" Target="https://github.com/LENICITA/estructura_optica-balamb/blob/master/_docs_/trim2/07_diagrama_distribucion/Diagrama%20de%20despliegue.drawio.png"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p:nvPr/>
        </p:nvSpPr>
        <p:spPr>
          <a:xfrm>
            <a:off x="1316550" y="2551650"/>
            <a:ext cx="4059900" cy="1754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F3F3F"/>
              </a:buClr>
              <a:buSzPts val="5400"/>
              <a:buFont typeface="Work Sans"/>
              <a:buNone/>
            </a:pPr>
            <a:r>
              <a:rPr lang="es-MX" sz="5400" b="1" i="0" u="none" strike="noStrike" cap="none">
                <a:solidFill>
                  <a:srgbClr val="3F3F3F"/>
                </a:solidFill>
                <a:latin typeface="Work Sans"/>
                <a:ea typeface="Work Sans"/>
                <a:cs typeface="Work Sans"/>
                <a:sym typeface="Work Sans"/>
              </a:rPr>
              <a:t>PROYECTO </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3F3F3F"/>
              </a:buClr>
              <a:buSzPts val="5400"/>
              <a:buFont typeface="Work Sans"/>
              <a:buNone/>
            </a:pPr>
            <a:r>
              <a:rPr lang="es-MX" sz="5400" b="1" i="0" u="none" strike="noStrike" cap="none">
                <a:solidFill>
                  <a:srgbClr val="3F3F3F"/>
                </a:solidFill>
                <a:latin typeface="Work Sans"/>
                <a:ea typeface="Work Sans"/>
                <a:cs typeface="Work Sans"/>
                <a:sym typeface="Work Sans"/>
              </a:rPr>
              <a:t>OPTICAM</a:t>
            </a:r>
            <a:endParaRPr sz="5400" b="1" i="0" u="none" strike="noStrike" cap="none">
              <a:solidFill>
                <a:srgbClr val="3F3F3F"/>
              </a:solidFill>
              <a:latin typeface="Work Sans"/>
              <a:ea typeface="Work Sans"/>
              <a:cs typeface="Work Sans"/>
              <a:sym typeface="Work Sans"/>
            </a:endParaRPr>
          </a:p>
        </p:txBody>
      </p:sp>
      <p:pic>
        <p:nvPicPr>
          <p:cNvPr id="102" name="Google Shape;102;p1"/>
          <p:cNvPicPr preferRelativeResize="0"/>
          <p:nvPr/>
        </p:nvPicPr>
        <p:blipFill rotWithShape="1">
          <a:blip r:embed="rId3">
            <a:alphaModFix/>
          </a:blip>
          <a:srcRect/>
          <a:stretch/>
        </p:blipFill>
        <p:spPr>
          <a:xfrm>
            <a:off x="9283525" y="3006825"/>
            <a:ext cx="1299700" cy="1299700"/>
          </a:xfrm>
          <a:prstGeom prst="rect">
            <a:avLst/>
          </a:prstGeom>
          <a:noFill/>
          <a:ln>
            <a:noFill/>
          </a:ln>
        </p:spPr>
      </p:pic>
      <p:pic>
        <p:nvPicPr>
          <p:cNvPr id="103" name="Google Shape;103;p1"/>
          <p:cNvPicPr preferRelativeResize="0"/>
          <p:nvPr/>
        </p:nvPicPr>
        <p:blipFill rotWithShape="1">
          <a:blip r:embed="rId4">
            <a:alphaModFix/>
          </a:blip>
          <a:srcRect t="-6911" b="13644"/>
          <a:stretch/>
        </p:blipFill>
        <p:spPr>
          <a:xfrm>
            <a:off x="7435800" y="3119375"/>
            <a:ext cx="1847726" cy="10745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7"/>
        <p:cNvGrpSpPr/>
        <p:nvPr/>
      </p:nvGrpSpPr>
      <p:grpSpPr>
        <a:xfrm>
          <a:off x="0" y="0"/>
          <a:ext cx="0" cy="0"/>
          <a:chOff x="0" y="0"/>
          <a:chExt cx="0" cy="0"/>
        </a:xfrm>
      </p:grpSpPr>
      <p:sp>
        <p:nvSpPr>
          <p:cNvPr id="108" name="Google Shape;108;p2"/>
          <p:cNvSpPr txBox="1"/>
          <p:nvPr/>
        </p:nvSpPr>
        <p:spPr>
          <a:xfrm>
            <a:off x="3948153" y="1315925"/>
            <a:ext cx="4295700" cy="120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200"/>
              <a:buFont typeface="Arial"/>
              <a:buNone/>
            </a:pPr>
            <a:r>
              <a:rPr lang="es-MX" sz="7200" b="0" i="0" u="none" strike="noStrike" cap="none">
                <a:solidFill>
                  <a:schemeClr val="lt1"/>
                </a:solidFill>
                <a:latin typeface="Work Sans Light"/>
                <a:ea typeface="Work Sans Light"/>
                <a:cs typeface="Work Sans Light"/>
                <a:sym typeface="Work Sans Light"/>
              </a:rPr>
              <a:t>ÓPTICAM</a:t>
            </a:r>
            <a:endParaRPr sz="1400" b="0" i="0" u="none" strike="noStrike" cap="none">
              <a:solidFill>
                <a:srgbClr val="000000"/>
              </a:solidFill>
              <a:latin typeface="Arial"/>
              <a:ea typeface="Arial"/>
              <a:cs typeface="Arial"/>
              <a:sym typeface="Arial"/>
            </a:endParaRPr>
          </a:p>
        </p:txBody>
      </p:sp>
      <p:cxnSp>
        <p:nvCxnSpPr>
          <p:cNvPr id="109" name="Google Shape;109;p2"/>
          <p:cNvCxnSpPr/>
          <p:nvPr/>
        </p:nvCxnSpPr>
        <p:spPr>
          <a:xfrm>
            <a:off x="5227899" y="3321934"/>
            <a:ext cx="1736203" cy="0"/>
          </a:xfrm>
          <a:prstGeom prst="straightConnector1">
            <a:avLst/>
          </a:prstGeom>
          <a:noFill/>
          <a:ln w="9525" cap="flat" cmpd="sng">
            <a:solidFill>
              <a:schemeClr val="lt1"/>
            </a:solidFill>
            <a:prstDash val="solid"/>
            <a:miter lim="800000"/>
            <a:headEnd type="none" w="sm" len="sm"/>
            <a:tailEnd type="none" w="sm" len="sm"/>
          </a:ln>
        </p:spPr>
      </p:cxnSp>
      <p:sp>
        <p:nvSpPr>
          <p:cNvPr id="110" name="Google Shape;110;p2"/>
          <p:cNvSpPr txBox="1"/>
          <p:nvPr/>
        </p:nvSpPr>
        <p:spPr>
          <a:xfrm>
            <a:off x="4168816" y="3463724"/>
            <a:ext cx="3854400" cy="13233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s-MX" sz="1600" b="0" i="0" u="none" strike="noStrike" cap="none" dirty="0">
                <a:solidFill>
                  <a:schemeClr val="lt1"/>
                </a:solidFill>
                <a:latin typeface="Work Sans Light"/>
                <a:ea typeface="Work Sans Light"/>
                <a:cs typeface="Work Sans Light"/>
                <a:sym typeface="Work Sans Light"/>
              </a:rPr>
              <a:t>CABREJO BELLO LAURA SOFIA </a:t>
            </a:r>
            <a:endParaRPr sz="1600" b="0" i="0" u="none" strike="noStrike" cap="none" dirty="0">
              <a:solidFill>
                <a:schemeClr val="lt1"/>
              </a:solidFill>
              <a:latin typeface="Work Sans Light"/>
              <a:ea typeface="Work Sans Light"/>
              <a:cs typeface="Work Sans Light"/>
              <a:sym typeface="Work Sans Light"/>
            </a:endParaRPr>
          </a:p>
          <a:p>
            <a:pPr marL="0" marR="0" lvl="0" indent="0" algn="ctr" rtl="0">
              <a:lnSpc>
                <a:spcPct val="100000"/>
              </a:lnSpc>
              <a:spcBef>
                <a:spcPts val="0"/>
              </a:spcBef>
              <a:spcAft>
                <a:spcPts val="0"/>
              </a:spcAft>
              <a:buClr>
                <a:srgbClr val="000000"/>
              </a:buClr>
              <a:buSzPts val="1600"/>
              <a:buFont typeface="Arial"/>
              <a:buNone/>
            </a:pPr>
            <a:r>
              <a:rPr lang="es-MX" sz="1600" b="0" i="0" u="none" strike="noStrike" cap="none" dirty="0">
                <a:solidFill>
                  <a:schemeClr val="lt1"/>
                </a:solidFill>
                <a:latin typeface="Work Sans Light"/>
                <a:ea typeface="Work Sans Light"/>
                <a:cs typeface="Work Sans Light"/>
                <a:sym typeface="Work Sans Light"/>
              </a:rPr>
              <a:t>FORERO GUAYARA JUAN SEBASTIAN </a:t>
            </a:r>
            <a:endParaRPr sz="1600" b="0" i="0" u="none" strike="noStrike" cap="none" dirty="0">
              <a:solidFill>
                <a:schemeClr val="lt1"/>
              </a:solidFill>
              <a:latin typeface="Work Sans Light"/>
              <a:ea typeface="Work Sans Light"/>
              <a:cs typeface="Work Sans Light"/>
              <a:sym typeface="Work Sans Light"/>
            </a:endParaRPr>
          </a:p>
          <a:p>
            <a:pPr marL="0" marR="0" lvl="0" indent="0" algn="ctr" rtl="0">
              <a:lnSpc>
                <a:spcPct val="100000"/>
              </a:lnSpc>
              <a:spcBef>
                <a:spcPts val="0"/>
              </a:spcBef>
              <a:spcAft>
                <a:spcPts val="0"/>
              </a:spcAft>
              <a:buClr>
                <a:srgbClr val="000000"/>
              </a:buClr>
              <a:buSzPts val="1600"/>
              <a:buFont typeface="Arial"/>
              <a:buNone/>
            </a:pPr>
            <a:r>
              <a:rPr lang="es-MX" sz="1600" b="0" i="0" u="none" strike="noStrike" cap="none" dirty="0">
                <a:solidFill>
                  <a:schemeClr val="lt1"/>
                </a:solidFill>
                <a:latin typeface="Work Sans Light"/>
                <a:ea typeface="Work Sans Light"/>
                <a:cs typeface="Work Sans Light"/>
                <a:sym typeface="Work Sans Light"/>
              </a:rPr>
              <a:t>MOSQUERA LARA SHARITH JORLEYNI </a:t>
            </a:r>
            <a:endParaRPr sz="1600" b="0" i="0" u="none" strike="noStrike" cap="none" dirty="0">
              <a:solidFill>
                <a:schemeClr val="lt1"/>
              </a:solidFill>
              <a:latin typeface="Work Sans Light"/>
              <a:ea typeface="Work Sans Light"/>
              <a:cs typeface="Work Sans Light"/>
              <a:sym typeface="Work Sans Light"/>
            </a:endParaRPr>
          </a:p>
          <a:p>
            <a:pPr marL="0" marR="0" lvl="0" indent="0" algn="ctr" rtl="0">
              <a:lnSpc>
                <a:spcPct val="100000"/>
              </a:lnSpc>
              <a:spcBef>
                <a:spcPts val="0"/>
              </a:spcBef>
              <a:spcAft>
                <a:spcPts val="0"/>
              </a:spcAft>
              <a:buClr>
                <a:srgbClr val="000000"/>
              </a:buClr>
              <a:buSzPts val="1600"/>
              <a:buFont typeface="Arial"/>
              <a:buNone/>
            </a:pPr>
            <a:r>
              <a:rPr lang="es-MX" sz="1600" b="0" i="0" u="none" strike="noStrike" cap="none" dirty="0">
                <a:solidFill>
                  <a:schemeClr val="lt1"/>
                </a:solidFill>
                <a:latin typeface="Work Sans Light"/>
                <a:ea typeface="Work Sans Light"/>
                <a:cs typeface="Work Sans Light"/>
                <a:sym typeface="Work Sans Light"/>
              </a:rPr>
              <a:t>RAMIREZ BERNAL VALENTINA </a:t>
            </a:r>
          </a:p>
          <a:p>
            <a:pPr lvl="0" algn="ctr">
              <a:buSzPts val="1600"/>
            </a:pPr>
            <a:r>
              <a:rPr lang="es-MX" sz="1600" dirty="0">
                <a:solidFill>
                  <a:schemeClr val="lt1"/>
                </a:solidFill>
                <a:latin typeface="Work Sans Light"/>
                <a:ea typeface="Work Sans Light"/>
                <a:cs typeface="Work Sans Light"/>
                <a:sym typeface="Work Sans Light"/>
              </a:rPr>
              <a:t>ROZO OBANDO SAIDA LORENA</a:t>
            </a:r>
            <a:endParaRPr sz="1600" b="0" i="0" u="none" strike="noStrike" cap="none" dirty="0">
              <a:solidFill>
                <a:schemeClr val="lt1"/>
              </a:solidFill>
              <a:latin typeface="Work Sans Light"/>
              <a:ea typeface="Work Sans Light"/>
              <a:cs typeface="Work Sans Light"/>
              <a:sym typeface="Work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4"/>
        <p:cNvGrpSpPr/>
        <p:nvPr/>
      </p:nvGrpSpPr>
      <p:grpSpPr>
        <a:xfrm>
          <a:off x="0" y="0"/>
          <a:ext cx="0" cy="0"/>
          <a:chOff x="0" y="0"/>
          <a:chExt cx="0" cy="0"/>
        </a:xfrm>
      </p:grpSpPr>
      <p:sp>
        <p:nvSpPr>
          <p:cNvPr id="115" name="Google Shape;115;p3"/>
          <p:cNvSpPr/>
          <p:nvPr/>
        </p:nvSpPr>
        <p:spPr>
          <a:xfrm>
            <a:off x="1157468" y="2685327"/>
            <a:ext cx="2939970" cy="347242"/>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6" name="Google Shape;116;p3"/>
          <p:cNvSpPr txBox="1"/>
          <p:nvPr/>
        </p:nvSpPr>
        <p:spPr>
          <a:xfrm>
            <a:off x="1145895" y="2356074"/>
            <a:ext cx="35148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Light"/>
              <a:buNone/>
            </a:pPr>
            <a:r>
              <a:rPr lang="es-MX" sz="3600" b="0" i="0" u="none" strike="noStrike" cap="none">
                <a:solidFill>
                  <a:srgbClr val="38AA00"/>
                </a:solidFill>
                <a:latin typeface="Work Sans Light"/>
                <a:ea typeface="Work Sans Light"/>
                <a:cs typeface="Work Sans Light"/>
                <a:sym typeface="Work Sans Light"/>
              </a:rPr>
              <a:t>Introducción</a:t>
            </a:r>
            <a:endParaRPr sz="1400" b="0" i="0" u="none" strike="noStrike" cap="none">
              <a:solidFill>
                <a:srgbClr val="000000"/>
              </a:solidFill>
              <a:latin typeface="Arial"/>
              <a:ea typeface="Arial"/>
              <a:cs typeface="Arial"/>
              <a:sym typeface="Arial"/>
            </a:endParaRPr>
          </a:p>
        </p:txBody>
      </p:sp>
      <p:sp>
        <p:nvSpPr>
          <p:cNvPr id="117" name="Google Shape;117;p3"/>
          <p:cNvSpPr txBox="1"/>
          <p:nvPr/>
        </p:nvSpPr>
        <p:spPr>
          <a:xfrm>
            <a:off x="1145896" y="3275635"/>
            <a:ext cx="3854400" cy="3140100"/>
          </a:xfrm>
          <a:prstGeom prst="rect">
            <a:avLst/>
          </a:prstGeom>
          <a:noFill/>
          <a:ln>
            <a:noFill/>
          </a:ln>
        </p:spPr>
        <p:txBody>
          <a:bodyPr spcFirstLastPara="1" wrap="square" lIns="91425" tIns="45700" rIns="91425" bIns="45700" anchor="t" anchorCtr="0">
            <a:spAutoFit/>
          </a:bodyPr>
          <a:lstStyle/>
          <a:p>
            <a:pPr marL="0" marR="0" lvl="0" indent="45720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latin typeface="Arial"/>
                <a:ea typeface="Arial"/>
                <a:cs typeface="Arial"/>
                <a:sym typeface="Arial"/>
              </a:rPr>
              <a:t>El proyecto se desarrolla en el sector óptico y está orientado a la empresa Óptica Virtual Balamb, mediante la propuesta de un sistema de información web. La presentación aborda el problema identificado, los objetivos planteados, la justificación del proyecto, así como su alcance y delimitación temporal definida mediante el modelo Gantt.</a:t>
            </a:r>
            <a:endParaRPr sz="1800" b="0" i="0" u="none" strike="noStrike" cap="none">
              <a:solidFill>
                <a:schemeClr val="dk1"/>
              </a:solidFill>
              <a:latin typeface="Arial"/>
              <a:ea typeface="Arial"/>
              <a:cs typeface="Arial"/>
              <a:sym typeface="Arial"/>
            </a:endParaRPr>
          </a:p>
        </p:txBody>
      </p:sp>
      <p:pic>
        <p:nvPicPr>
          <p:cNvPr id="118" name="Google Shape;118;p3" title="ChatGPT Image 4 feb 2026, 05_01_07 p.m..png"/>
          <p:cNvPicPr preferRelativeResize="0"/>
          <p:nvPr/>
        </p:nvPicPr>
        <p:blipFill rotWithShape="1">
          <a:blip r:embed="rId4">
            <a:alphaModFix/>
          </a:blip>
          <a:srcRect b="25160"/>
          <a:stretch/>
        </p:blipFill>
        <p:spPr>
          <a:xfrm>
            <a:off x="6082900" y="0"/>
            <a:ext cx="6109100" cy="685799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2"/>
        <p:cNvGrpSpPr/>
        <p:nvPr/>
      </p:nvGrpSpPr>
      <p:grpSpPr>
        <a:xfrm>
          <a:off x="0" y="0"/>
          <a:ext cx="0" cy="0"/>
          <a:chOff x="0" y="0"/>
          <a:chExt cx="0" cy="0"/>
        </a:xfrm>
      </p:grpSpPr>
      <p:sp>
        <p:nvSpPr>
          <p:cNvPr id="123" name="Google Shape;123;p4"/>
          <p:cNvSpPr txBox="1"/>
          <p:nvPr/>
        </p:nvSpPr>
        <p:spPr>
          <a:xfrm>
            <a:off x="456236" y="416689"/>
            <a:ext cx="10515600" cy="741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4400"/>
              <a:buFont typeface="Work Sans Medium"/>
              <a:buNone/>
            </a:pPr>
            <a:r>
              <a:rPr lang="es-MX" sz="4400" b="0" i="0" u="none" strike="noStrike" cap="none">
                <a:solidFill>
                  <a:schemeClr val="lt1"/>
                </a:solidFill>
                <a:latin typeface="Work Sans Medium"/>
                <a:ea typeface="Work Sans Medium"/>
                <a:cs typeface="Work Sans Medium"/>
                <a:sym typeface="Work Sans Medium"/>
              </a:rPr>
              <a:t>OPTICA BALAMB</a:t>
            </a:r>
            <a:endParaRPr sz="1400" b="0" i="0" u="none" strike="noStrike" cap="none">
              <a:solidFill>
                <a:srgbClr val="000000"/>
              </a:solidFill>
              <a:latin typeface="Arial"/>
              <a:ea typeface="Arial"/>
              <a:cs typeface="Arial"/>
              <a:sym typeface="Arial"/>
            </a:endParaRPr>
          </a:p>
        </p:txBody>
      </p:sp>
      <p:sp>
        <p:nvSpPr>
          <p:cNvPr id="124" name="Google Shape;124;p4"/>
          <p:cNvSpPr txBox="1"/>
          <p:nvPr/>
        </p:nvSpPr>
        <p:spPr>
          <a:xfrm>
            <a:off x="7295325" y="3061300"/>
            <a:ext cx="2535900" cy="1754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uFill>
                  <a:noFill/>
                </a:uFill>
                <a:latin typeface="Arial"/>
                <a:ea typeface="Arial"/>
                <a:cs typeface="Arial"/>
                <a:sym typeface="Arial"/>
                <a:hlinkClick r:id="rId4" action="ppaction://hlinksldjump">
                  <a:extLst>
                    <a:ext uri="{A12FA001-AC4F-418D-AE19-62706E023703}">
                      <ahyp:hlinkClr xmlns:ahyp="http://schemas.microsoft.com/office/drawing/2018/hyperlinkcolor" val="tx"/>
                    </a:ext>
                  </a:extLst>
                </a:hlinkClick>
              </a:rPr>
              <a:t>Problema</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uFill>
                  <a:noFill/>
                </a:uFill>
                <a:latin typeface="Arial"/>
                <a:ea typeface="Arial"/>
                <a:cs typeface="Arial"/>
                <a:sym typeface="Arial"/>
                <a:hlinkClick r:id="rId5" action="ppaction://hlinksldjump">
                  <a:extLst>
                    <a:ext uri="{A12FA001-AC4F-418D-AE19-62706E023703}">
                      <ahyp:hlinkClr xmlns:ahyp="http://schemas.microsoft.com/office/drawing/2018/hyperlinkcolor" val="tx"/>
                    </a:ext>
                  </a:extLst>
                </a:hlinkClick>
              </a:rPr>
              <a:t>Objetivos</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uFill>
                  <a:noFill/>
                </a:uFill>
                <a:latin typeface="Arial"/>
                <a:ea typeface="Arial"/>
                <a:cs typeface="Arial"/>
                <a:sym typeface="Arial"/>
                <a:hlinkClick r:id="rId6" action="ppaction://hlinksldjump">
                  <a:extLst>
                    <a:ext uri="{A12FA001-AC4F-418D-AE19-62706E023703}">
                      <ahyp:hlinkClr xmlns:ahyp="http://schemas.microsoft.com/office/drawing/2018/hyperlinkcolor" val="tx"/>
                    </a:ext>
                  </a:extLst>
                </a:hlinkClick>
              </a:rPr>
              <a:t>Justificación</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uFill>
                  <a:noFill/>
                </a:uFill>
                <a:latin typeface="Arial"/>
                <a:ea typeface="Arial"/>
                <a:cs typeface="Arial"/>
                <a:sym typeface="Arial"/>
                <a:hlinkClick r:id="rId7" action="ppaction://hlinksldjump">
                  <a:extLst>
                    <a:ext uri="{A12FA001-AC4F-418D-AE19-62706E023703}">
                      <ahyp:hlinkClr xmlns:ahyp="http://schemas.microsoft.com/office/drawing/2018/hyperlinkcolor" val="tx"/>
                    </a:ext>
                  </a:extLst>
                </a:hlinkClick>
              </a:rPr>
              <a:t>Alcance</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uFill>
                  <a:noFill/>
                </a:uFill>
                <a:latin typeface="Arial"/>
                <a:ea typeface="Arial"/>
                <a:cs typeface="Arial"/>
                <a:sym typeface="Arial"/>
                <a:hlinkClick r:id="rId8" action="ppaction://hlinksldjump">
                  <a:extLst>
                    <a:ext uri="{A12FA001-AC4F-418D-AE19-62706E023703}">
                      <ahyp:hlinkClr xmlns:ahyp="http://schemas.microsoft.com/office/drawing/2018/hyperlinkcolor" val="tx"/>
                    </a:ext>
                  </a:extLst>
                </a:hlinkClick>
              </a:rPr>
              <a:t>Delimitación</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uFill>
                  <a:noFill/>
                </a:uFill>
                <a:latin typeface="Arial"/>
                <a:ea typeface="Arial"/>
                <a:cs typeface="Arial"/>
                <a:sym typeface="Arial"/>
                <a:hlinkClick r:id="rId9" action="ppaction://hlinksldjump">
                  <a:extLst>
                    <a:ext uri="{A12FA001-AC4F-418D-AE19-62706E023703}">
                      <ahyp:hlinkClr xmlns:ahyp="http://schemas.microsoft.com/office/drawing/2018/hyperlinkcolor" val="tx"/>
                    </a:ext>
                  </a:extLst>
                </a:hlinkClick>
              </a:rPr>
              <a:t>Entregables Trimestre</a:t>
            </a:r>
            <a:endParaRPr sz="1800" b="0" i="0" u="none" strike="noStrike" cap="none">
              <a:solidFill>
                <a:schemeClr val="dk1"/>
              </a:solidFill>
              <a:latin typeface="Arial"/>
              <a:ea typeface="Arial"/>
              <a:cs typeface="Arial"/>
              <a:sym typeface="Arial"/>
            </a:endParaRPr>
          </a:p>
        </p:txBody>
      </p:sp>
      <p:pic>
        <p:nvPicPr>
          <p:cNvPr id="125" name="Google Shape;125;p4"/>
          <p:cNvPicPr preferRelativeResize="0"/>
          <p:nvPr/>
        </p:nvPicPr>
        <p:blipFill rotWithShape="1">
          <a:blip r:embed="rId10">
            <a:alphaModFix/>
          </a:blip>
          <a:srcRect/>
          <a:stretch/>
        </p:blipFill>
        <p:spPr>
          <a:xfrm>
            <a:off x="4869850" y="3019199"/>
            <a:ext cx="1838924" cy="1838900"/>
          </a:xfrm>
          <a:prstGeom prst="rect">
            <a:avLst/>
          </a:prstGeom>
          <a:noFill/>
          <a:ln>
            <a:noFill/>
          </a:ln>
        </p:spPr>
      </p:pic>
      <p:pic>
        <p:nvPicPr>
          <p:cNvPr id="126" name="Google Shape;126;p4"/>
          <p:cNvPicPr preferRelativeResize="0"/>
          <p:nvPr/>
        </p:nvPicPr>
        <p:blipFill rotWithShape="1">
          <a:blip r:embed="rId11">
            <a:alphaModFix/>
          </a:blip>
          <a:srcRect t="-6911" b="13644"/>
          <a:stretch/>
        </p:blipFill>
        <p:spPr>
          <a:xfrm>
            <a:off x="1552473" y="2977088"/>
            <a:ext cx="3161976" cy="18389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Problema</a:t>
            </a:r>
            <a:endParaRPr/>
          </a:p>
        </p:txBody>
      </p:sp>
      <p:sp>
        <p:nvSpPr>
          <p:cNvPr id="132" name="Google Shape;132;p5"/>
          <p:cNvSpPr txBox="1"/>
          <p:nvPr/>
        </p:nvSpPr>
        <p:spPr>
          <a:xfrm>
            <a:off x="8694348" y="508463"/>
            <a:ext cx="1080000" cy="5400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MX" sz="1600" b="1" i="0" u="none" strike="noStrike" cap="none">
                <a:solidFill>
                  <a:schemeClr val="lt1"/>
                </a:solidFill>
                <a:latin typeface="Work Sans Light"/>
                <a:ea typeface="Work Sans Light"/>
                <a:cs typeface="Work Sans Light"/>
                <a:sym typeface="Work Sans Light"/>
              </a:rPr>
              <a:t>Logo Sistema</a:t>
            </a:r>
            <a:endParaRPr sz="1600" b="1" i="0" u="none" strike="noStrike" cap="none">
              <a:solidFill>
                <a:schemeClr val="lt1"/>
              </a:solidFill>
              <a:latin typeface="Work Sans Light"/>
              <a:ea typeface="Work Sans Light"/>
              <a:cs typeface="Work Sans Light"/>
              <a:sym typeface="Work Sans Light"/>
            </a:endParaRPr>
          </a:p>
        </p:txBody>
      </p:sp>
      <p:sp>
        <p:nvSpPr>
          <p:cNvPr id="133" name="Google Shape;133;p5"/>
          <p:cNvSpPr txBox="1"/>
          <p:nvPr/>
        </p:nvSpPr>
        <p:spPr>
          <a:xfrm>
            <a:off x="1232775" y="1732800"/>
            <a:ext cx="9862200" cy="4806600"/>
          </a:xfrm>
          <a:prstGeom prst="rect">
            <a:avLst/>
          </a:prstGeom>
          <a:noFill/>
          <a:ln>
            <a:noFill/>
          </a:ln>
        </p:spPr>
        <p:txBody>
          <a:bodyPr spcFirstLastPara="1" wrap="square" lIns="91425" tIns="45700" rIns="91425" bIns="45700" anchor="t" anchorCtr="0">
            <a:spAutoFit/>
          </a:bodyPr>
          <a:lstStyle/>
          <a:p>
            <a:pPr marL="0" marR="0" lvl="0" indent="457200" algn="l" rtl="0">
              <a:lnSpc>
                <a:spcPct val="115000"/>
              </a:lnSpc>
              <a:spcBef>
                <a:spcPts val="1100"/>
              </a:spcBef>
              <a:spcAft>
                <a:spcPts val="0"/>
              </a:spcAft>
              <a:buClr>
                <a:srgbClr val="000000"/>
              </a:buClr>
              <a:buSzPts val="1800"/>
              <a:buFont typeface="Arial"/>
              <a:buNone/>
            </a:pPr>
            <a:r>
              <a:rPr lang="es-MX" sz="1800" b="0" i="0" u="none" strike="noStrike" cap="none">
                <a:solidFill>
                  <a:schemeClr val="dk1"/>
                </a:solidFill>
                <a:latin typeface="Arial"/>
                <a:ea typeface="Arial"/>
                <a:cs typeface="Arial"/>
                <a:sym typeface="Arial"/>
              </a:rPr>
              <a:t>La Óptica Virtual Balamb se dedica a la venta de lentes, monturas y accesorios, para gafas. No tiene un espacio físico, por lo cual, opera exclusivamente de forma digital por diferentes canales. Los procesos clave para su funcionamiento son: el inventario, pedidos, pagos, distribución de sus productos.</a:t>
            </a:r>
            <a:endParaRPr sz="1800" b="0" i="0" u="none" strike="noStrike" cap="none">
              <a:solidFill>
                <a:schemeClr val="dk1"/>
              </a:solidFill>
              <a:latin typeface="Arial"/>
              <a:ea typeface="Arial"/>
              <a:cs typeface="Arial"/>
              <a:sym typeface="Arial"/>
            </a:endParaRPr>
          </a:p>
          <a:p>
            <a:pPr marL="0" marR="0" lvl="0" indent="457200" algn="l" rtl="0">
              <a:lnSpc>
                <a:spcPct val="115000"/>
              </a:lnSpc>
              <a:spcBef>
                <a:spcPts val="1100"/>
              </a:spcBef>
              <a:spcAft>
                <a:spcPts val="0"/>
              </a:spcAft>
              <a:buClr>
                <a:srgbClr val="000000"/>
              </a:buClr>
              <a:buSzPts val="1800"/>
              <a:buFont typeface="Arial"/>
              <a:buNone/>
            </a:pPr>
            <a:r>
              <a:rPr lang="es-MX" sz="1800" b="0" i="0" u="none" strike="noStrike" cap="none">
                <a:solidFill>
                  <a:schemeClr val="dk1"/>
                </a:solidFill>
                <a:latin typeface="Arial"/>
                <a:ea typeface="Arial"/>
                <a:cs typeface="Arial"/>
                <a:sym typeface="Arial"/>
              </a:rPr>
              <a:t>La obtención de información se realizó mediante </a:t>
            </a:r>
            <a:r>
              <a:rPr lang="es-MX" sz="1800" b="1" i="0" u="none" strike="noStrike" cap="none">
                <a:solidFill>
                  <a:schemeClr val="dk1"/>
                </a:solidFill>
                <a:latin typeface="Arial"/>
                <a:ea typeface="Arial"/>
                <a:cs typeface="Arial"/>
                <a:sym typeface="Arial"/>
              </a:rPr>
              <a:t>Microsoft Forms</a:t>
            </a:r>
            <a:r>
              <a:rPr lang="es-MX" sz="1800" b="0" i="0" u="none" strike="noStrike" cap="none">
                <a:solidFill>
                  <a:schemeClr val="dk1"/>
                </a:solidFill>
                <a:latin typeface="Arial"/>
                <a:ea typeface="Arial"/>
                <a:cs typeface="Arial"/>
                <a:sym typeface="Arial"/>
              </a:rPr>
              <a:t>, dirigiéndose específicamente a clientes de la organización y a personas que habitualmente realizan sus compras en establecimientos ópticos presenciales.</a:t>
            </a:r>
            <a:endParaRPr sz="1800" b="0" i="0" u="none" strike="noStrike" cap="none">
              <a:solidFill>
                <a:schemeClr val="dk1"/>
              </a:solidFill>
              <a:latin typeface="Arial"/>
              <a:ea typeface="Arial"/>
              <a:cs typeface="Arial"/>
              <a:sym typeface="Arial"/>
            </a:endParaRPr>
          </a:p>
          <a:p>
            <a:pPr marL="0" marR="0" lvl="0" indent="457200" algn="l" rtl="0">
              <a:lnSpc>
                <a:spcPct val="115000"/>
              </a:lnSpc>
              <a:spcBef>
                <a:spcPts val="1200"/>
              </a:spcBef>
              <a:spcAft>
                <a:spcPts val="1200"/>
              </a:spcAft>
              <a:buClr>
                <a:srgbClr val="000000"/>
              </a:buClr>
              <a:buSzPts val="1800"/>
              <a:buFont typeface="Arial"/>
              <a:buNone/>
            </a:pPr>
            <a:r>
              <a:rPr lang="es-MX" sz="1800" b="0" i="0" u="none" strike="noStrike" cap="none">
                <a:solidFill>
                  <a:schemeClr val="dk1"/>
                </a:solidFill>
                <a:latin typeface="Arial"/>
                <a:ea typeface="Arial"/>
                <a:cs typeface="Arial"/>
                <a:sym typeface="Arial"/>
              </a:rPr>
              <a:t>El proceso comercial de la óptica inicia formalmente cuando el </a:t>
            </a:r>
            <a:r>
              <a:rPr lang="es-MX" sz="1800" b="1" i="0" u="none" strike="noStrike" cap="none">
                <a:solidFill>
                  <a:schemeClr val="dk1"/>
                </a:solidFill>
                <a:latin typeface="Arial"/>
                <a:ea typeface="Arial"/>
                <a:cs typeface="Arial"/>
                <a:sym typeface="Arial"/>
              </a:rPr>
              <a:t>Cliente</a:t>
            </a:r>
            <a:r>
              <a:rPr lang="es-MX" sz="1800" b="0" i="0" u="none" strike="noStrike" cap="none">
                <a:solidFill>
                  <a:schemeClr val="dk1"/>
                </a:solidFill>
                <a:latin typeface="Arial"/>
                <a:ea typeface="Arial"/>
                <a:cs typeface="Arial"/>
                <a:sym typeface="Arial"/>
              </a:rPr>
              <a:t> envía un mensaje a través de </a:t>
            </a:r>
            <a:r>
              <a:rPr lang="es-MX" sz="1800" b="1" i="0" u="none" strike="noStrike" cap="none">
                <a:solidFill>
                  <a:schemeClr val="dk1"/>
                </a:solidFill>
                <a:latin typeface="Arial"/>
                <a:ea typeface="Arial"/>
                <a:cs typeface="Arial"/>
                <a:sym typeface="Arial"/>
              </a:rPr>
              <a:t>WhatsApp</a:t>
            </a:r>
            <a:r>
              <a:rPr lang="es-MX" sz="1800" b="0" i="0" u="none" strike="noStrike" cap="none">
                <a:solidFill>
                  <a:schemeClr val="dk1"/>
                </a:solidFill>
                <a:latin typeface="Arial"/>
                <a:ea typeface="Arial"/>
                <a:cs typeface="Arial"/>
                <a:sym typeface="Arial"/>
              </a:rPr>
              <a:t> solicitando información detallada sobre los servicios o productos disponibles. Una vez que el </a:t>
            </a:r>
            <a:r>
              <a:rPr lang="es-MX" sz="1800" b="1" i="0" u="none" strike="noStrike" cap="none">
                <a:solidFill>
                  <a:schemeClr val="dk1"/>
                </a:solidFill>
                <a:latin typeface="Arial"/>
                <a:ea typeface="Arial"/>
                <a:cs typeface="Arial"/>
                <a:sym typeface="Arial"/>
              </a:rPr>
              <a:t>Administrador</a:t>
            </a:r>
            <a:r>
              <a:rPr lang="es-MX" sz="1800" b="0" i="0" u="none" strike="noStrike" cap="none">
                <a:solidFill>
                  <a:schemeClr val="dk1"/>
                </a:solidFill>
                <a:latin typeface="Arial"/>
                <a:ea typeface="Arial"/>
                <a:cs typeface="Arial"/>
                <a:sym typeface="Arial"/>
              </a:rPr>
              <a:t> recibe esta solicitud por el mismo medio, se activa internamente el </a:t>
            </a:r>
            <a:r>
              <a:rPr lang="es-MX" sz="1800" b="1" i="0" u="none" strike="noStrike" cap="none">
                <a:solidFill>
                  <a:schemeClr val="dk1"/>
                </a:solidFill>
                <a:latin typeface="Arial"/>
                <a:ea typeface="Arial"/>
                <a:cs typeface="Arial"/>
                <a:sym typeface="Arial"/>
              </a:rPr>
              <a:t>Subproceso de gafas</a:t>
            </a:r>
            <a:r>
              <a:rPr lang="es-MX" sz="1800" b="0" i="0" u="none" strike="noStrike" cap="none">
                <a:solidFill>
                  <a:schemeClr val="dk1"/>
                </a:solidFill>
                <a:latin typeface="Arial"/>
                <a:ea typeface="Arial"/>
                <a:cs typeface="Arial"/>
                <a:sym typeface="Arial"/>
              </a:rPr>
              <a:t> para determinar las especificaciones técnicas requeridas. Con esta información, el Administrador evalúa si es posible afirmar la cotización; en caso de que no se concrete, el proceso finaliza en ese momento. Si la cotización es afirmativa, el Administrador procede a enviarla al Cliente mediante </a:t>
            </a:r>
            <a:r>
              <a:rPr lang="es-MX" sz="1800" b="1" i="0" u="none" strike="noStrike" cap="none">
                <a:solidFill>
                  <a:schemeClr val="dk1"/>
                </a:solidFill>
                <a:latin typeface="Arial"/>
                <a:ea typeface="Arial"/>
                <a:cs typeface="Arial"/>
                <a:sym typeface="Arial"/>
              </a:rPr>
              <a:t>WhatsApp</a:t>
            </a:r>
            <a:r>
              <a:rPr lang="es-MX" sz="1800" b="0" i="0" u="none" strike="noStrike" cap="none">
                <a:solidFill>
                  <a:schemeClr val="dk1"/>
                </a:solidFill>
                <a:latin typeface="Arial"/>
                <a:ea typeface="Arial"/>
                <a:cs typeface="Arial"/>
                <a:sym typeface="Arial"/>
              </a:rPr>
              <a:t>.</a:t>
            </a:r>
            <a:endParaRPr sz="1800" b="0" i="0" u="none" strike="noStrike" cap="none">
              <a:solidFill>
                <a:schemeClr val="dk1"/>
              </a:solidFill>
              <a:latin typeface="Arial"/>
              <a:ea typeface="Arial"/>
              <a:cs typeface="Arial"/>
              <a:sym typeface="Arial"/>
            </a:endParaRPr>
          </a:p>
        </p:txBody>
      </p:sp>
      <p:pic>
        <p:nvPicPr>
          <p:cNvPr id="134" name="Google Shape;134;p5"/>
          <p:cNvPicPr preferRelativeResize="0"/>
          <p:nvPr/>
        </p:nvPicPr>
        <p:blipFill rotWithShape="1">
          <a:blip r:embed="rId3">
            <a:alphaModFix/>
          </a:blip>
          <a:srcRect/>
          <a:stretch/>
        </p:blipFill>
        <p:spPr>
          <a:xfrm>
            <a:off x="9774350" y="277975"/>
            <a:ext cx="1001000" cy="1001000"/>
          </a:xfrm>
          <a:prstGeom prst="rect">
            <a:avLst/>
          </a:prstGeom>
          <a:noFill/>
          <a:ln>
            <a:noFill/>
          </a:ln>
        </p:spPr>
      </p:pic>
      <p:pic>
        <p:nvPicPr>
          <p:cNvPr id="135" name="Google Shape;135;p5"/>
          <p:cNvPicPr preferRelativeResize="0"/>
          <p:nvPr/>
        </p:nvPicPr>
        <p:blipFill rotWithShape="1">
          <a:blip r:embed="rId4">
            <a:alphaModFix/>
          </a:blip>
          <a:srcRect t="-6911" b="13644"/>
          <a:stretch/>
        </p:blipFill>
        <p:spPr>
          <a:xfrm>
            <a:off x="7859775" y="174875"/>
            <a:ext cx="1914576" cy="11134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3ca84db1a28_1_14"/>
          <p:cNvSpPr txBox="1"/>
          <p:nvPr/>
        </p:nvSpPr>
        <p:spPr>
          <a:xfrm>
            <a:off x="1030200" y="2511775"/>
            <a:ext cx="10131600" cy="3072300"/>
          </a:xfrm>
          <a:prstGeom prst="rect">
            <a:avLst/>
          </a:prstGeom>
          <a:noFill/>
          <a:ln>
            <a:noFill/>
          </a:ln>
        </p:spPr>
        <p:txBody>
          <a:bodyPr spcFirstLastPara="1" wrap="square" lIns="91425" tIns="45700" rIns="91425" bIns="45700" anchor="t" anchorCtr="0">
            <a:spAutoFit/>
          </a:bodyPr>
          <a:lstStyle/>
          <a:p>
            <a:pPr marL="0" marR="0" lvl="0" indent="457200" algn="l" rtl="0">
              <a:lnSpc>
                <a:spcPct val="115000"/>
              </a:lnSpc>
              <a:spcBef>
                <a:spcPts val="1200"/>
              </a:spcBef>
              <a:spcAft>
                <a:spcPts val="0"/>
              </a:spcAft>
              <a:buClr>
                <a:srgbClr val="000000"/>
              </a:buClr>
              <a:buSzPts val="1800"/>
              <a:buFont typeface="Arial"/>
              <a:buNone/>
            </a:pPr>
            <a:r>
              <a:rPr lang="es-MX" sz="1800" b="0" i="0" u="none" strike="noStrike" cap="none">
                <a:solidFill>
                  <a:schemeClr val="dk1"/>
                </a:solidFill>
                <a:latin typeface="Arial"/>
                <a:ea typeface="Arial"/>
                <a:cs typeface="Arial"/>
                <a:sym typeface="Arial"/>
              </a:rPr>
              <a:t>Al recibir la propuesta económica, el Cliente debe decidir si efectúa la compra. Si la respuesta es negativa, se marca el fin de la venta; de lo contrario, se inicia el </a:t>
            </a:r>
            <a:r>
              <a:rPr lang="es-MX" sz="1800" b="1" i="0" u="none" strike="noStrike" cap="none">
                <a:solidFill>
                  <a:schemeClr val="dk1"/>
                </a:solidFill>
                <a:latin typeface="Arial"/>
                <a:ea typeface="Arial"/>
                <a:cs typeface="Arial"/>
                <a:sym typeface="Arial"/>
              </a:rPr>
              <a:t>subproceso de realizar pago</a:t>
            </a:r>
            <a:r>
              <a:rPr lang="es-MX" sz="1800" b="0" i="0" u="none" strike="noStrike" cap="none">
                <a:solidFill>
                  <a:schemeClr val="dk1"/>
                </a:solidFill>
                <a:latin typeface="Arial"/>
                <a:ea typeface="Arial"/>
                <a:cs typeface="Arial"/>
                <a:sym typeface="Arial"/>
              </a:rPr>
              <a:t>. Una vez completada la transacción, el Cliente envía el comprobante de pago por </a:t>
            </a:r>
            <a:r>
              <a:rPr lang="es-MX" sz="1800" b="1" i="0" u="none" strike="noStrike" cap="none">
                <a:solidFill>
                  <a:schemeClr val="dk1"/>
                </a:solidFill>
                <a:latin typeface="Arial"/>
                <a:ea typeface="Arial"/>
                <a:cs typeface="Arial"/>
                <a:sym typeface="Arial"/>
              </a:rPr>
              <a:t>WhatsApp</a:t>
            </a:r>
            <a:r>
              <a:rPr lang="es-MX" sz="1800" b="0" i="0" u="none" strike="noStrike" cap="none">
                <a:solidFill>
                  <a:schemeClr val="dk1"/>
                </a:solidFill>
                <a:latin typeface="Arial"/>
                <a:ea typeface="Arial"/>
                <a:cs typeface="Arial"/>
                <a:sym typeface="Arial"/>
              </a:rPr>
              <a:t> al Administrador, quien tiene la responsabilidad de verificar el ingreso del dinero y confirmar la recepción del pago al cliente por la misma vía.</a:t>
            </a:r>
            <a:endParaRPr sz="1800" b="0" i="0" u="none" strike="noStrike" cap="none">
              <a:solidFill>
                <a:schemeClr val="dk1"/>
              </a:solidFill>
              <a:latin typeface="Arial"/>
              <a:ea typeface="Arial"/>
              <a:cs typeface="Arial"/>
              <a:sym typeface="Arial"/>
            </a:endParaRPr>
          </a:p>
          <a:p>
            <a:pPr marL="0" marR="0" lvl="0" indent="457200" algn="l" rtl="0">
              <a:lnSpc>
                <a:spcPct val="115000"/>
              </a:lnSpc>
              <a:spcBef>
                <a:spcPts val="1200"/>
              </a:spcBef>
              <a:spcAft>
                <a:spcPts val="1200"/>
              </a:spcAft>
              <a:buClr>
                <a:srgbClr val="000000"/>
              </a:buClr>
              <a:buSzPts val="1800"/>
              <a:buFont typeface="Arial"/>
              <a:buNone/>
            </a:pPr>
            <a:r>
              <a:rPr lang="es-MX" sz="1800" b="0" i="0" u="none" strike="noStrike" cap="none">
                <a:solidFill>
                  <a:schemeClr val="dk1"/>
                </a:solidFill>
                <a:latin typeface="Arial"/>
                <a:ea typeface="Arial"/>
                <a:cs typeface="Arial"/>
                <a:sym typeface="Arial"/>
              </a:rPr>
              <a:t>Posteriormente, se establece un periodo de espera estimado de </a:t>
            </a:r>
            <a:r>
              <a:rPr lang="es-MX" sz="1800" b="1" i="0" u="none" strike="noStrike" cap="none">
                <a:solidFill>
                  <a:schemeClr val="dk1"/>
                </a:solidFill>
                <a:latin typeface="Arial"/>
                <a:ea typeface="Arial"/>
                <a:cs typeface="Arial"/>
                <a:sym typeface="Arial"/>
              </a:rPr>
              <a:t>5 a 8 días</a:t>
            </a:r>
            <a:r>
              <a:rPr lang="es-MX" sz="1800" b="0" i="0" u="none" strike="noStrike" cap="none">
                <a:solidFill>
                  <a:schemeClr val="dk1"/>
                </a:solidFill>
                <a:latin typeface="Arial"/>
                <a:ea typeface="Arial"/>
                <a:cs typeface="Arial"/>
                <a:sym typeface="Arial"/>
              </a:rPr>
              <a:t> para la gestión del pedido. Cumplido este plazo, el Administrador ejecuta el </a:t>
            </a:r>
            <a:r>
              <a:rPr lang="es-MX" sz="1800" b="1" i="0" u="none" strike="noStrike" cap="none">
                <a:solidFill>
                  <a:schemeClr val="dk1"/>
                </a:solidFill>
                <a:latin typeface="Arial"/>
                <a:ea typeface="Arial"/>
                <a:cs typeface="Arial"/>
                <a:sym typeface="Arial"/>
              </a:rPr>
              <a:t>subproceso de coordinar entrega</a:t>
            </a:r>
            <a:r>
              <a:rPr lang="es-MX" sz="1800" b="0" i="0" u="none" strike="noStrike" cap="none">
                <a:solidFill>
                  <a:schemeClr val="dk1"/>
                </a:solidFill>
                <a:latin typeface="Arial"/>
                <a:ea typeface="Arial"/>
                <a:cs typeface="Arial"/>
                <a:sym typeface="Arial"/>
              </a:rPr>
              <a:t>, seguido de la preparación física del paquete. Finalmente, el Administrador realiza la </a:t>
            </a:r>
            <a:r>
              <a:rPr lang="es-MX" sz="1800" b="1" i="0" u="none" strike="noStrike" cap="none">
                <a:solidFill>
                  <a:schemeClr val="dk1"/>
                </a:solidFill>
                <a:latin typeface="Arial"/>
                <a:ea typeface="Arial"/>
                <a:cs typeface="Arial"/>
                <a:sym typeface="Arial"/>
              </a:rPr>
              <a:t>entrega de la montura</a:t>
            </a:r>
            <a:r>
              <a:rPr lang="es-MX" sz="1800" b="0" i="0" u="none" strike="noStrike" cap="none">
                <a:solidFill>
                  <a:schemeClr val="dk1"/>
                </a:solidFill>
                <a:latin typeface="Arial"/>
                <a:ea typeface="Arial"/>
                <a:cs typeface="Arial"/>
                <a:sym typeface="Arial"/>
              </a:rPr>
              <a:t>, concluyendo el flujo con una venta exitosa.</a:t>
            </a:r>
            <a:endParaRPr sz="1800" b="0" i="0" u="none" strike="noStrike" cap="none">
              <a:solidFill>
                <a:schemeClr val="dk1"/>
              </a:solidFill>
              <a:latin typeface="Arial"/>
              <a:ea typeface="Arial"/>
              <a:cs typeface="Arial"/>
              <a:sym typeface="Arial"/>
            </a:endParaRPr>
          </a:p>
        </p:txBody>
      </p:sp>
      <p:pic>
        <p:nvPicPr>
          <p:cNvPr id="141" name="Google Shape;141;g3ca84db1a28_1_14"/>
          <p:cNvPicPr preferRelativeResize="0"/>
          <p:nvPr/>
        </p:nvPicPr>
        <p:blipFill rotWithShape="1">
          <a:blip r:embed="rId3">
            <a:alphaModFix/>
          </a:blip>
          <a:srcRect t="7250" b="-7248"/>
          <a:stretch/>
        </p:blipFill>
        <p:spPr>
          <a:xfrm>
            <a:off x="6293550" y="334200"/>
            <a:ext cx="1001000" cy="1001000"/>
          </a:xfrm>
          <a:prstGeom prst="rect">
            <a:avLst/>
          </a:prstGeom>
          <a:noFill/>
          <a:ln>
            <a:noFill/>
          </a:ln>
        </p:spPr>
      </p:pic>
      <p:pic>
        <p:nvPicPr>
          <p:cNvPr id="142" name="Google Shape;142;g3ca84db1a28_1_14"/>
          <p:cNvPicPr preferRelativeResize="0"/>
          <p:nvPr/>
        </p:nvPicPr>
        <p:blipFill rotWithShape="1">
          <a:blip r:embed="rId4">
            <a:alphaModFix/>
          </a:blip>
          <a:srcRect t="-6911" b="13644"/>
          <a:stretch/>
        </p:blipFill>
        <p:spPr>
          <a:xfrm>
            <a:off x="4016425" y="221750"/>
            <a:ext cx="1914576" cy="11134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3ca84db1a28_1_4"/>
          <p:cNvSpPr txBox="1"/>
          <p:nvPr/>
        </p:nvSpPr>
        <p:spPr>
          <a:xfrm>
            <a:off x="538700" y="2055950"/>
            <a:ext cx="10898100" cy="4169100"/>
          </a:xfrm>
          <a:prstGeom prst="rect">
            <a:avLst/>
          </a:prstGeom>
          <a:noFill/>
          <a:ln>
            <a:noFill/>
          </a:ln>
        </p:spPr>
        <p:txBody>
          <a:bodyPr spcFirstLastPara="1" wrap="square" lIns="91425" tIns="45700" rIns="91425" bIns="45700" anchor="t" anchorCtr="0">
            <a:spAutoFit/>
          </a:bodyPr>
          <a:lstStyle/>
          <a:p>
            <a:pPr marL="0" marR="0" lvl="0" indent="457200" algn="l" rtl="0">
              <a:lnSpc>
                <a:spcPct val="115000"/>
              </a:lnSpc>
              <a:spcBef>
                <a:spcPts val="1200"/>
              </a:spcBef>
              <a:spcAft>
                <a:spcPts val="0"/>
              </a:spcAft>
              <a:buClr>
                <a:srgbClr val="000000"/>
              </a:buClr>
              <a:buSzPts val="1800"/>
              <a:buFont typeface="Arial"/>
              <a:buNone/>
            </a:pPr>
            <a:r>
              <a:rPr lang="es-MX" sz="1800" b="0" i="0" u="none" strike="noStrike" cap="none">
                <a:solidFill>
                  <a:schemeClr val="dk1"/>
                </a:solidFill>
                <a:latin typeface="Arial"/>
                <a:ea typeface="Arial"/>
                <a:cs typeface="Arial"/>
                <a:sym typeface="Arial"/>
              </a:rPr>
              <a:t>Posteriormente, se establece un periodo de espera estimado de </a:t>
            </a:r>
            <a:r>
              <a:rPr lang="es-MX" sz="1800" b="1" i="0" u="none" strike="noStrike" cap="none">
                <a:solidFill>
                  <a:schemeClr val="dk1"/>
                </a:solidFill>
                <a:latin typeface="Arial"/>
                <a:ea typeface="Arial"/>
                <a:cs typeface="Arial"/>
                <a:sym typeface="Arial"/>
              </a:rPr>
              <a:t>5 a 8 días</a:t>
            </a:r>
            <a:r>
              <a:rPr lang="es-MX" sz="1800" b="0" i="0" u="none" strike="noStrike" cap="none">
                <a:solidFill>
                  <a:schemeClr val="dk1"/>
                </a:solidFill>
                <a:latin typeface="Arial"/>
                <a:ea typeface="Arial"/>
                <a:cs typeface="Arial"/>
                <a:sym typeface="Arial"/>
              </a:rPr>
              <a:t> para la gestión del pedido. Cumplido este plazo, el Administrador ejecuta el </a:t>
            </a:r>
            <a:r>
              <a:rPr lang="es-MX" sz="1800" b="1" i="0" u="none" strike="noStrike" cap="none">
                <a:solidFill>
                  <a:schemeClr val="dk1"/>
                </a:solidFill>
                <a:latin typeface="Arial"/>
                <a:ea typeface="Arial"/>
                <a:cs typeface="Arial"/>
                <a:sym typeface="Arial"/>
              </a:rPr>
              <a:t>subproceso de coordinar entrega</a:t>
            </a:r>
            <a:r>
              <a:rPr lang="es-MX" sz="1800" b="0" i="0" u="none" strike="noStrike" cap="none">
                <a:solidFill>
                  <a:schemeClr val="dk1"/>
                </a:solidFill>
                <a:latin typeface="Arial"/>
                <a:ea typeface="Arial"/>
                <a:cs typeface="Arial"/>
                <a:sym typeface="Arial"/>
              </a:rPr>
              <a:t>, seguido de la preparación física del paquete. Finalmente, el Administrador realiza la </a:t>
            </a:r>
            <a:r>
              <a:rPr lang="es-MX" sz="1800" b="1" i="0" u="none" strike="noStrike" cap="none">
                <a:solidFill>
                  <a:schemeClr val="dk1"/>
                </a:solidFill>
                <a:latin typeface="Arial"/>
                <a:ea typeface="Arial"/>
                <a:cs typeface="Arial"/>
                <a:sym typeface="Arial"/>
              </a:rPr>
              <a:t>entrega de la montura</a:t>
            </a:r>
            <a:r>
              <a:rPr lang="es-MX" sz="1800" b="0" i="0" u="none" strike="noStrike" cap="none">
                <a:solidFill>
                  <a:schemeClr val="dk1"/>
                </a:solidFill>
                <a:latin typeface="Arial"/>
                <a:ea typeface="Arial"/>
                <a:cs typeface="Arial"/>
                <a:sym typeface="Arial"/>
              </a:rPr>
              <a:t>, concluyendo el flujo con una venta exitosa.</a:t>
            </a:r>
            <a:endParaRPr sz="1800" b="0" i="0" u="none" strike="noStrike" cap="none">
              <a:solidFill>
                <a:schemeClr val="dk1"/>
              </a:solidFill>
              <a:latin typeface="Arial"/>
              <a:ea typeface="Arial"/>
              <a:cs typeface="Arial"/>
              <a:sym typeface="Arial"/>
            </a:endParaRPr>
          </a:p>
          <a:p>
            <a:pPr marL="0" marR="0" lvl="0" indent="457200" algn="l" rtl="0">
              <a:lnSpc>
                <a:spcPct val="115000"/>
              </a:lnSpc>
              <a:spcBef>
                <a:spcPts val="1200"/>
              </a:spcBef>
              <a:spcAft>
                <a:spcPts val="0"/>
              </a:spcAft>
              <a:buClr>
                <a:srgbClr val="000000"/>
              </a:buClr>
              <a:buSzPts val="1800"/>
              <a:buFont typeface="Arial"/>
              <a:buNone/>
            </a:pPr>
            <a:r>
              <a:rPr lang="es-MX" sz="1800" b="0" i="0" u="none" strike="noStrike" cap="none">
                <a:solidFill>
                  <a:schemeClr val="dk1"/>
                </a:solidFill>
                <a:latin typeface="Arial"/>
                <a:ea typeface="Arial"/>
                <a:cs typeface="Arial"/>
                <a:sym typeface="Arial"/>
              </a:rPr>
              <a:t>Opera exclusivamente mediante canales digitales, lo que limita la experiencia de compra presencial. Los clientes no pueden probar físicamente las monturas antes de adquirirlas, generando desconfianza, indecisión y mayor probabilidad de devoluciones. Esta situación afecta la satisfacción del usuario, reduce la seguridad en la compra y dificulta la fidelización de clientes.</a:t>
            </a:r>
            <a:endParaRPr sz="1800" b="0" i="0" u="none" strike="noStrike" cap="none">
              <a:solidFill>
                <a:schemeClr val="dk1"/>
              </a:solidFill>
              <a:latin typeface="Arial"/>
              <a:ea typeface="Arial"/>
              <a:cs typeface="Arial"/>
              <a:sym typeface="Arial"/>
            </a:endParaRPr>
          </a:p>
          <a:p>
            <a:pPr marL="0" marR="0" lvl="0" indent="457200" algn="l" rtl="0">
              <a:lnSpc>
                <a:spcPct val="115000"/>
              </a:lnSpc>
              <a:spcBef>
                <a:spcPts val="1100"/>
              </a:spcBef>
              <a:spcAft>
                <a:spcPts val="1100"/>
              </a:spcAft>
              <a:buClr>
                <a:srgbClr val="000000"/>
              </a:buClr>
              <a:buSzPts val="1800"/>
              <a:buFont typeface="Arial"/>
              <a:buNone/>
            </a:pPr>
            <a:r>
              <a:rPr lang="es-MX" sz="1800" b="0" i="0" u="none" strike="noStrike" cap="none">
                <a:solidFill>
                  <a:schemeClr val="dk1"/>
                </a:solidFill>
                <a:latin typeface="Arial"/>
                <a:ea typeface="Arial"/>
                <a:cs typeface="Arial"/>
                <a:sym typeface="Arial"/>
              </a:rPr>
              <a:t>Como se puede apreciar, la forma como se está llevando en este momento el seguimiento al inventario, los pagos, pedidos y servicio al cliente; puede provocar inconsistencias en la disponibilidad de productos, retrasos en las entregas y errores administrativos. Estas deficiencias disminuyen la eficiencia operativa, incrementan costos y reducen la competitividad de la empresa en el mercado virtual.</a:t>
            </a:r>
            <a:endParaRPr sz="1800" b="0" i="0" u="none" strike="noStrike" cap="none">
              <a:solidFill>
                <a:schemeClr val="dk1"/>
              </a:solidFill>
              <a:latin typeface="Arial"/>
              <a:ea typeface="Arial"/>
              <a:cs typeface="Arial"/>
              <a:sym typeface="Arial"/>
            </a:endParaRPr>
          </a:p>
        </p:txBody>
      </p:sp>
      <p:pic>
        <p:nvPicPr>
          <p:cNvPr id="148" name="Google Shape;148;g3ca84db1a28_1_4"/>
          <p:cNvPicPr preferRelativeResize="0"/>
          <p:nvPr/>
        </p:nvPicPr>
        <p:blipFill rotWithShape="1">
          <a:blip r:embed="rId3">
            <a:alphaModFix/>
          </a:blip>
          <a:srcRect t="11111"/>
          <a:stretch/>
        </p:blipFill>
        <p:spPr>
          <a:xfrm>
            <a:off x="6299950" y="333600"/>
            <a:ext cx="1001000" cy="889752"/>
          </a:xfrm>
          <a:prstGeom prst="rect">
            <a:avLst/>
          </a:prstGeom>
          <a:noFill/>
          <a:ln>
            <a:noFill/>
          </a:ln>
        </p:spPr>
      </p:pic>
      <p:pic>
        <p:nvPicPr>
          <p:cNvPr id="149" name="Google Shape;149;g3ca84db1a28_1_4"/>
          <p:cNvPicPr preferRelativeResize="0"/>
          <p:nvPr/>
        </p:nvPicPr>
        <p:blipFill rotWithShape="1">
          <a:blip r:embed="rId4">
            <a:alphaModFix/>
          </a:blip>
          <a:srcRect t="-6911" b="13644"/>
          <a:stretch/>
        </p:blipFill>
        <p:spPr>
          <a:xfrm>
            <a:off x="4047500" y="221750"/>
            <a:ext cx="1914576" cy="11134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p:nvPr/>
        </p:nvSpPr>
        <p:spPr>
          <a:xfrm>
            <a:off x="1363201" y="1826866"/>
            <a:ext cx="3527400" cy="3471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5" name="Google Shape;155;p7"/>
          <p:cNvSpPr txBox="1"/>
          <p:nvPr/>
        </p:nvSpPr>
        <p:spPr>
          <a:xfrm>
            <a:off x="1088342" y="1543887"/>
            <a:ext cx="4077000" cy="6765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38AA00"/>
              </a:buClr>
              <a:buSzPts val="3200"/>
              <a:buFont typeface="Work Sans Light"/>
              <a:buNone/>
            </a:pPr>
            <a:r>
              <a:rPr lang="es-MX" sz="3200" b="0" i="0" u="none" strike="noStrike" cap="none">
                <a:solidFill>
                  <a:srgbClr val="38AA00"/>
                </a:solidFill>
                <a:latin typeface="Work Sans Light"/>
                <a:ea typeface="Work Sans Light"/>
                <a:cs typeface="Work Sans Light"/>
                <a:sym typeface="Work Sans Light"/>
              </a:rPr>
              <a:t>Objetivo General</a:t>
            </a:r>
            <a:endParaRPr sz="1400" b="0" i="0" u="none" strike="noStrike" cap="none">
              <a:solidFill>
                <a:srgbClr val="000000"/>
              </a:solidFill>
              <a:latin typeface="Arial"/>
              <a:ea typeface="Arial"/>
              <a:cs typeface="Arial"/>
              <a:sym typeface="Arial"/>
            </a:endParaRPr>
          </a:p>
        </p:txBody>
      </p:sp>
      <p:sp>
        <p:nvSpPr>
          <p:cNvPr id="156" name="Google Shape;156;p7"/>
          <p:cNvSpPr txBox="1"/>
          <p:nvPr/>
        </p:nvSpPr>
        <p:spPr>
          <a:xfrm>
            <a:off x="605351" y="2343891"/>
            <a:ext cx="5043000" cy="3786600"/>
          </a:xfrm>
          <a:prstGeom prst="rect">
            <a:avLst/>
          </a:prstGeom>
          <a:noFill/>
          <a:ln>
            <a:noFill/>
          </a:ln>
        </p:spPr>
        <p:txBody>
          <a:bodyPr spcFirstLastPara="1" wrap="square" lIns="91425" tIns="45700" rIns="91425" bIns="45700" anchor="t" anchorCtr="0">
            <a:spAutoFit/>
          </a:bodyPr>
          <a:lstStyle/>
          <a:p>
            <a:pPr marL="0" marR="0" lvl="0" indent="457200" algn="l" rtl="0">
              <a:lnSpc>
                <a:spcPct val="100000"/>
              </a:lnSpc>
              <a:spcBef>
                <a:spcPts val="0"/>
              </a:spcBef>
              <a:spcAft>
                <a:spcPts val="0"/>
              </a:spcAft>
              <a:buClr>
                <a:srgbClr val="000000"/>
              </a:buClr>
              <a:buSzPts val="2400"/>
              <a:buFont typeface="Arial"/>
              <a:buNone/>
            </a:pPr>
            <a:r>
              <a:rPr lang="es-MX" sz="2400" b="0" i="0" u="none" strike="noStrike" cap="none">
                <a:solidFill>
                  <a:srgbClr val="000000"/>
                </a:solidFill>
                <a:latin typeface="Arial"/>
                <a:ea typeface="Arial"/>
                <a:cs typeface="Arial"/>
                <a:sym typeface="Arial"/>
              </a:rPr>
              <a:t>Desarrollar un sistema de información denominado ÓptiCam que sirva como apoyo al inventario, pedidos, pagos y distribución de los productos de la Óptica Balamb, incorporando además una funcionalidad de prueba virtual de monturas a través de la cámara y un chatbot para la atención al cliente</a:t>
            </a:r>
            <a:r>
              <a:rPr lang="es-MX" sz="2400"/>
              <a:t>.</a:t>
            </a:r>
            <a:endParaRPr sz="1800" b="0" i="0" u="none" strike="noStrike" cap="none">
              <a:solidFill>
                <a:schemeClr val="dk1"/>
              </a:solidFill>
              <a:latin typeface="Arial"/>
              <a:ea typeface="Arial"/>
              <a:cs typeface="Arial"/>
              <a:sym typeface="Arial"/>
            </a:endParaRPr>
          </a:p>
        </p:txBody>
      </p:sp>
      <p:pic>
        <p:nvPicPr>
          <p:cNvPr id="157" name="Google Shape;157;p7" title="ChatGPT Image 4 feb 2026, 05_02_46 p.m..png"/>
          <p:cNvPicPr preferRelativeResize="0"/>
          <p:nvPr/>
        </p:nvPicPr>
        <p:blipFill rotWithShape="1">
          <a:blip r:embed="rId3">
            <a:alphaModFix/>
          </a:blip>
          <a:srcRect b="19054"/>
          <a:stretch/>
        </p:blipFill>
        <p:spPr>
          <a:xfrm>
            <a:off x="6543650" y="0"/>
            <a:ext cx="5648351" cy="68579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g3938a90d903_0_0" title="ChatGPT Image 6 feb 2026, 03_30_00 p.m..png"/>
          <p:cNvPicPr preferRelativeResize="0"/>
          <p:nvPr/>
        </p:nvPicPr>
        <p:blipFill rotWithShape="1">
          <a:blip r:embed="rId3">
            <a:alphaModFix/>
          </a:blip>
          <a:srcRect r="4442"/>
          <a:stretch/>
        </p:blipFill>
        <p:spPr>
          <a:xfrm>
            <a:off x="5638800" y="0"/>
            <a:ext cx="6553201" cy="6857999"/>
          </a:xfrm>
          <a:prstGeom prst="rect">
            <a:avLst/>
          </a:prstGeom>
          <a:noFill/>
          <a:ln>
            <a:noFill/>
          </a:ln>
        </p:spPr>
      </p:pic>
      <p:sp>
        <p:nvSpPr>
          <p:cNvPr id="164" name="Google Shape;164;g3938a90d903_0_0"/>
          <p:cNvSpPr/>
          <p:nvPr/>
        </p:nvSpPr>
        <p:spPr>
          <a:xfrm>
            <a:off x="255696" y="414930"/>
            <a:ext cx="4166100" cy="3471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5" name="Google Shape;165;g3938a90d903_0_0"/>
          <p:cNvSpPr txBox="1"/>
          <p:nvPr/>
        </p:nvSpPr>
        <p:spPr>
          <a:xfrm>
            <a:off x="344805" y="157003"/>
            <a:ext cx="40770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200"/>
              <a:buFont typeface="Work Sans Light"/>
              <a:buNone/>
            </a:pPr>
            <a:r>
              <a:rPr lang="es-MX" sz="3200" b="0" i="0" u="none" strike="noStrike" cap="none">
                <a:solidFill>
                  <a:srgbClr val="38AA00"/>
                </a:solidFill>
                <a:latin typeface="Work Sans Light"/>
                <a:ea typeface="Work Sans Light"/>
                <a:cs typeface="Work Sans Light"/>
                <a:sym typeface="Work Sans Light"/>
              </a:rPr>
              <a:t>Objetivo Específicos</a:t>
            </a:r>
            <a:endParaRPr sz="1400" b="0" i="0" u="none" strike="noStrike" cap="none">
              <a:solidFill>
                <a:srgbClr val="000000"/>
              </a:solidFill>
              <a:latin typeface="Arial"/>
              <a:ea typeface="Arial"/>
              <a:cs typeface="Arial"/>
              <a:sym typeface="Arial"/>
            </a:endParaRPr>
          </a:p>
        </p:txBody>
      </p:sp>
      <p:sp>
        <p:nvSpPr>
          <p:cNvPr id="166" name="Google Shape;166;g3938a90d903_0_0"/>
          <p:cNvSpPr txBox="1"/>
          <p:nvPr/>
        </p:nvSpPr>
        <p:spPr>
          <a:xfrm>
            <a:off x="255700" y="833500"/>
            <a:ext cx="5307300" cy="5786100"/>
          </a:xfrm>
          <a:prstGeom prst="rect">
            <a:avLst/>
          </a:prstGeom>
          <a:noFill/>
          <a:ln>
            <a:noFill/>
          </a:ln>
        </p:spPr>
        <p:txBody>
          <a:bodyPr spcFirstLastPara="1" wrap="square" lIns="91425" tIns="45700" rIns="91425" bIns="45700" anchor="t" anchorCtr="0">
            <a:spAutoFit/>
          </a:bodyPr>
          <a:lstStyle/>
          <a:p>
            <a:pPr marL="457200" marR="0" lvl="0" indent="-298450" algn="l" rtl="0">
              <a:lnSpc>
                <a:spcPct val="115000"/>
              </a:lnSpc>
              <a:spcBef>
                <a:spcPts val="1200"/>
              </a:spcBef>
              <a:spcAft>
                <a:spcPts val="0"/>
              </a:spcAft>
              <a:buClr>
                <a:schemeClr val="dk1"/>
              </a:buClr>
              <a:buSzPts val="1100"/>
              <a:buFont typeface="Arial"/>
              <a:buChar char="●"/>
            </a:pPr>
            <a:r>
              <a:rPr lang="es-MX" sz="1800" b="0" i="0" u="none" strike="noStrike" cap="none">
                <a:solidFill>
                  <a:schemeClr val="dk1"/>
                </a:solidFill>
                <a:latin typeface="Arial"/>
                <a:ea typeface="Arial"/>
                <a:cs typeface="Arial"/>
                <a:sym typeface="Arial"/>
              </a:rPr>
              <a:t>Desarrollar el módulo de usuarios del sistema ÓptiCam</a:t>
            </a:r>
            <a:endParaRPr sz="18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s-MX" sz="1800" b="0" i="0" u="none" strike="noStrike" cap="none">
                <a:solidFill>
                  <a:schemeClr val="dk1"/>
                </a:solidFill>
                <a:latin typeface="Arial"/>
                <a:ea typeface="Arial"/>
                <a:cs typeface="Arial"/>
                <a:sym typeface="Arial"/>
              </a:rPr>
              <a:t>Desarrollar el módulo de inventario del sistema ÓptiCam</a:t>
            </a:r>
            <a:endParaRPr sz="18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s-MX" sz="1800" b="0" i="0" u="none" strike="noStrike" cap="none">
                <a:solidFill>
                  <a:schemeClr val="dk1"/>
                </a:solidFill>
                <a:latin typeface="Arial"/>
                <a:ea typeface="Arial"/>
                <a:cs typeface="Arial"/>
                <a:sym typeface="Arial"/>
              </a:rPr>
              <a:t>Desarrollar el módulo de pedidos del sistema ÓptiCam</a:t>
            </a:r>
            <a:endParaRPr sz="18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s-MX" sz="1800" b="0" i="0" u="none" strike="noStrike" cap="none">
                <a:solidFill>
                  <a:schemeClr val="dk1"/>
                </a:solidFill>
                <a:latin typeface="Arial"/>
                <a:ea typeface="Arial"/>
                <a:cs typeface="Arial"/>
                <a:sym typeface="Arial"/>
              </a:rPr>
              <a:t>Desarrollar el módulo de pagos del sistema ÓptiCam</a:t>
            </a:r>
            <a:endParaRPr sz="18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s-MX" sz="1800" b="0" i="0" u="none" strike="noStrike" cap="none">
                <a:solidFill>
                  <a:schemeClr val="dk1"/>
                </a:solidFill>
                <a:latin typeface="Arial"/>
                <a:ea typeface="Arial"/>
                <a:cs typeface="Arial"/>
                <a:sym typeface="Arial"/>
              </a:rPr>
              <a:t>Desarrollar el módulo de distribución del sistema ÓptiCam</a:t>
            </a:r>
            <a:endParaRPr sz="18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s-MX" sz="1800" b="0" i="0" u="none" strike="noStrike" cap="none">
                <a:solidFill>
                  <a:schemeClr val="dk1"/>
                </a:solidFill>
                <a:latin typeface="Arial"/>
                <a:ea typeface="Arial"/>
                <a:cs typeface="Arial"/>
                <a:sym typeface="Arial"/>
              </a:rPr>
              <a:t>Desarrollar el módulo de prueba virtual de monturas mediante cámara del sistema ÓptiCam</a:t>
            </a:r>
            <a:endParaRPr sz="18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s-MX" sz="1800" b="0" i="0" u="none" strike="noStrike" cap="none">
                <a:solidFill>
                  <a:schemeClr val="dk1"/>
                </a:solidFill>
                <a:latin typeface="Arial"/>
                <a:ea typeface="Arial"/>
                <a:cs typeface="Arial"/>
                <a:sym typeface="Arial"/>
              </a:rPr>
              <a:t>Desarrollar el módulo de respuesta automática mediante ChatBot del sistema ÓptiCam</a:t>
            </a:r>
            <a:endParaRPr sz="18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s-MX" sz="1800" b="0" i="0" u="none" strike="noStrike" cap="none">
                <a:solidFill>
                  <a:schemeClr val="dk1"/>
                </a:solidFill>
                <a:latin typeface="Arial"/>
                <a:ea typeface="Arial"/>
                <a:cs typeface="Arial"/>
                <a:sym typeface="Arial"/>
              </a:rPr>
              <a:t>Desarrollar el módulo de reportes gráficos e impresos del sistema ÓptiCam.</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8"/>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Justificación</a:t>
            </a:r>
            <a:endParaRPr/>
          </a:p>
        </p:txBody>
      </p:sp>
      <p:sp>
        <p:nvSpPr>
          <p:cNvPr id="172" name="Google Shape;172;p8"/>
          <p:cNvSpPr txBox="1"/>
          <p:nvPr/>
        </p:nvSpPr>
        <p:spPr>
          <a:xfrm>
            <a:off x="456225" y="1601050"/>
            <a:ext cx="11674800" cy="4942500"/>
          </a:xfrm>
          <a:prstGeom prst="rect">
            <a:avLst/>
          </a:prstGeom>
          <a:noFill/>
          <a:ln>
            <a:noFill/>
          </a:ln>
        </p:spPr>
        <p:txBody>
          <a:bodyPr spcFirstLastPara="1" wrap="square" lIns="91425" tIns="45700" rIns="91425" bIns="45700" anchor="t" anchorCtr="0">
            <a:spAutoFit/>
          </a:bodyPr>
          <a:lstStyle/>
          <a:p>
            <a:pPr marL="0" marR="0" lvl="0" indent="457200" algn="l" rtl="0">
              <a:lnSpc>
                <a:spcPct val="115000"/>
              </a:lnSpc>
              <a:spcBef>
                <a:spcPts val="1200"/>
              </a:spcBef>
              <a:spcAft>
                <a:spcPts val="0"/>
              </a:spcAft>
              <a:buClr>
                <a:srgbClr val="000000"/>
              </a:buClr>
              <a:buSzPts val="1800"/>
              <a:buFont typeface="Arial"/>
              <a:buNone/>
            </a:pPr>
            <a:r>
              <a:rPr lang="es-MX" sz="1800" b="0" i="0" u="none" strike="noStrike" cap="none">
                <a:solidFill>
                  <a:schemeClr val="dk1"/>
                </a:solidFill>
                <a:latin typeface="Arial"/>
                <a:ea typeface="Arial"/>
                <a:cs typeface="Arial"/>
                <a:sym typeface="Arial"/>
              </a:rPr>
              <a:t>La solución propone el desarrollo de un Sistema de Información Web denominado ÓptiCam, que sirva como herramienta software de apoyo al seguimiento de los procesos de venta, gestión de inventario y distribución de pedidos de la empresa Óptica Virtual BalamB, integrando la prueba virtual de monturas, la cotización de productos y el pago en línea.</a:t>
            </a:r>
            <a:endParaRPr sz="1800" b="0" i="0" u="none" strike="noStrike" cap="none">
              <a:solidFill>
                <a:schemeClr val="dk1"/>
              </a:solidFill>
              <a:latin typeface="Arial"/>
              <a:ea typeface="Arial"/>
              <a:cs typeface="Arial"/>
              <a:sym typeface="Arial"/>
            </a:endParaRPr>
          </a:p>
          <a:p>
            <a:pPr marL="0" marR="0" lvl="0" indent="457200" algn="l" rtl="0">
              <a:lnSpc>
                <a:spcPct val="115000"/>
              </a:lnSpc>
              <a:spcBef>
                <a:spcPts val="1200"/>
              </a:spcBef>
              <a:spcAft>
                <a:spcPts val="0"/>
              </a:spcAft>
              <a:buClr>
                <a:srgbClr val="000000"/>
              </a:buClr>
              <a:buSzPts val="1800"/>
              <a:buFont typeface="Arial"/>
              <a:buNone/>
            </a:pPr>
            <a:r>
              <a:rPr lang="es-MX" sz="1800" b="0" i="0" u="none" strike="noStrike" cap="none">
                <a:solidFill>
                  <a:schemeClr val="dk1"/>
                </a:solidFill>
                <a:latin typeface="Arial"/>
                <a:ea typeface="Arial"/>
                <a:cs typeface="Arial"/>
                <a:sym typeface="Arial"/>
              </a:rPr>
              <a:t>La importancia del sistema radica en que permitirá la gestión de los perfiles de clientes, administradores y repartidores como usuarios de la empresa Óptica Virtual BalamB. En el módulo de prueba virtual y cotización, los clientes podrán probar monturas y conocer precios en tiempo real. En el módulo de gestión administrativa, los administradores podrán controlar inventario, registrar repartidores y supervisar ventas. En el módulo de distribución, los repartidores podrán gestionar y dar seguimiento a las entregas. Además, el sistema permitirá generar reportes para apoyar la toma de decisiones.</a:t>
            </a:r>
            <a:endParaRPr sz="1800" b="0" i="0" u="none" strike="noStrike" cap="none">
              <a:solidFill>
                <a:schemeClr val="dk1"/>
              </a:solidFill>
              <a:latin typeface="Arial"/>
              <a:ea typeface="Arial"/>
              <a:cs typeface="Arial"/>
              <a:sym typeface="Arial"/>
            </a:endParaRPr>
          </a:p>
          <a:p>
            <a:pPr marL="0" marR="0" lvl="0" indent="457200" algn="l" rtl="0">
              <a:lnSpc>
                <a:spcPct val="115000"/>
              </a:lnSpc>
              <a:spcBef>
                <a:spcPts val="1200"/>
              </a:spcBef>
              <a:spcAft>
                <a:spcPts val="0"/>
              </a:spcAft>
              <a:buClr>
                <a:srgbClr val="000000"/>
              </a:buClr>
              <a:buSzPts val="1800"/>
              <a:buFont typeface="Arial"/>
              <a:buNone/>
            </a:pPr>
            <a:r>
              <a:rPr lang="es-MX" sz="1800" b="0" i="0" u="none" strike="noStrike" cap="none">
                <a:solidFill>
                  <a:schemeClr val="dk1"/>
                </a:solidFill>
                <a:latin typeface="Arial"/>
                <a:ea typeface="Arial"/>
                <a:cs typeface="Arial"/>
                <a:sym typeface="Arial"/>
              </a:rPr>
              <a:t>El sistema ÓptiCam servirá como aporte al sector óptico y de la salud visual, al promover la digitalización de procesos comerciales y de atención al cliente, facilitando el acceso a productos ópticos mediante tecnologías innovadoras y fortaleciendo la modernización del sector.</a:t>
            </a:r>
            <a:endParaRPr sz="1800" b="0" i="0" u="none" strike="noStrike" cap="none">
              <a:solidFill>
                <a:schemeClr val="dk1"/>
              </a:solidFill>
              <a:latin typeface="Arial"/>
              <a:ea typeface="Arial"/>
              <a:cs typeface="Arial"/>
              <a:sym typeface="Arial"/>
            </a:endParaRPr>
          </a:p>
          <a:p>
            <a:pPr marL="285750" marR="0" lvl="0" indent="-184150" algn="l" rtl="0">
              <a:lnSpc>
                <a:spcPct val="100000"/>
              </a:lnSpc>
              <a:spcBef>
                <a:spcPts val="1200"/>
              </a:spcBef>
              <a:spcAft>
                <a:spcPts val="0"/>
              </a:spcAft>
              <a:buClr>
                <a:schemeClr val="dk1"/>
              </a:buClr>
              <a:buSzPts val="1600"/>
              <a:buFont typeface="Arial"/>
              <a:buNone/>
            </a:pPr>
            <a:endParaRPr sz="1600" b="1" i="0" u="none" strike="noStrike" cap="none">
              <a:solidFill>
                <a:schemeClr val="dk1"/>
              </a:solidFill>
              <a:latin typeface="Work Sans Light"/>
              <a:ea typeface="Work Sans Light"/>
              <a:cs typeface="Work Sans Light"/>
              <a:sym typeface="Work Sans Light"/>
            </a:endParaRPr>
          </a:p>
        </p:txBody>
      </p:sp>
      <p:pic>
        <p:nvPicPr>
          <p:cNvPr id="173" name="Google Shape;173;p8"/>
          <p:cNvPicPr preferRelativeResize="0"/>
          <p:nvPr/>
        </p:nvPicPr>
        <p:blipFill rotWithShape="1">
          <a:blip r:embed="rId3">
            <a:alphaModFix/>
          </a:blip>
          <a:srcRect t="-6911" b="13644"/>
          <a:stretch/>
        </p:blipFill>
        <p:spPr>
          <a:xfrm>
            <a:off x="7562550" y="167500"/>
            <a:ext cx="1965475" cy="1143049"/>
          </a:xfrm>
          <a:prstGeom prst="rect">
            <a:avLst/>
          </a:prstGeom>
          <a:noFill/>
          <a:ln>
            <a:noFill/>
          </a:ln>
        </p:spPr>
      </p:pic>
      <p:pic>
        <p:nvPicPr>
          <p:cNvPr id="174" name="Google Shape;174;p8"/>
          <p:cNvPicPr preferRelativeResize="0"/>
          <p:nvPr/>
        </p:nvPicPr>
        <p:blipFill rotWithShape="1">
          <a:blip r:embed="rId4">
            <a:alphaModFix/>
          </a:blip>
          <a:srcRect/>
          <a:stretch/>
        </p:blipFill>
        <p:spPr>
          <a:xfrm>
            <a:off x="9528025" y="235976"/>
            <a:ext cx="1074596" cy="10745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0"/>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Alcance</a:t>
            </a:r>
            <a:endParaRPr/>
          </a:p>
        </p:txBody>
      </p:sp>
      <p:sp>
        <p:nvSpPr>
          <p:cNvPr id="180" name="Google Shape;180;p10"/>
          <p:cNvSpPr txBox="1"/>
          <p:nvPr/>
        </p:nvSpPr>
        <p:spPr>
          <a:xfrm>
            <a:off x="8694348" y="508463"/>
            <a:ext cx="1080000" cy="5400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MX" sz="1600" b="1" i="0" u="none" strike="noStrike" cap="none">
                <a:solidFill>
                  <a:schemeClr val="lt1"/>
                </a:solidFill>
                <a:latin typeface="Work Sans Light"/>
                <a:ea typeface="Work Sans Light"/>
                <a:cs typeface="Work Sans Light"/>
                <a:sym typeface="Work Sans Light"/>
              </a:rPr>
              <a:t>Logo Sistema</a:t>
            </a:r>
            <a:endParaRPr sz="1600" b="1" i="0" u="none" strike="noStrike" cap="none">
              <a:solidFill>
                <a:schemeClr val="lt1"/>
              </a:solidFill>
              <a:latin typeface="Work Sans Light"/>
              <a:ea typeface="Work Sans Light"/>
              <a:cs typeface="Work Sans Light"/>
              <a:sym typeface="Work Sans Light"/>
            </a:endParaRPr>
          </a:p>
        </p:txBody>
      </p:sp>
      <p:sp>
        <p:nvSpPr>
          <p:cNvPr id="181" name="Google Shape;181;p10"/>
          <p:cNvSpPr txBox="1"/>
          <p:nvPr/>
        </p:nvSpPr>
        <p:spPr>
          <a:xfrm>
            <a:off x="372303" y="1563921"/>
            <a:ext cx="11447400" cy="4802400"/>
          </a:xfrm>
          <a:prstGeom prst="rect">
            <a:avLst/>
          </a:prstGeom>
          <a:noFill/>
          <a:ln>
            <a:noFill/>
          </a:ln>
        </p:spPr>
        <p:txBody>
          <a:bodyPr spcFirstLastPara="1" wrap="square" lIns="91425" tIns="45700" rIns="91425" bIns="45700" anchor="t" anchorCtr="0">
            <a:spAutoFit/>
          </a:bodyPr>
          <a:lstStyle/>
          <a:p>
            <a:pPr marL="0" marR="0" lvl="0" indent="45720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latin typeface="Arial"/>
                <a:ea typeface="Arial"/>
                <a:cs typeface="Arial"/>
                <a:sym typeface="Arial"/>
              </a:rPr>
              <a:t>El sistema ÓptiCam permitirá a los clientes realizar la prueba virtual de monturas, consultar información de productos, generar cotizaciones y efectuar pagos seguros en línea. Asimismo, permitirá a los administradores gestionar el inventario en tiempo real, registrar repartidores, supervisar ventas y pedidos, y a los repartidores realizar el seguimiento de las entregas asignadas.</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0" marR="0" lvl="0" indent="45720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latin typeface="Arial"/>
                <a:ea typeface="Arial"/>
                <a:cs typeface="Arial"/>
                <a:sym typeface="Arial"/>
              </a:rPr>
              <a:t>El sistema ÓptiCam no realizará exámenes optométricos ni diagnósticos visuales, ni contará con integración con aseguradoras de salud. De igual manera, no ofrecerá servicios clínicos especializados relacionados con la evaluación de la salud visual de los usuarios.</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0" marR="0" lvl="0" indent="45720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latin typeface="Arial"/>
                <a:ea typeface="Arial"/>
                <a:cs typeface="Arial"/>
                <a:sym typeface="Arial"/>
              </a:rPr>
              <a:t>El sistema ÓptiCam se desarrollará bajo una arquitectura cliente-servidor. La vista se implementará en JavaScript con React, permitiendo una interfaz web dinámica y responsiva. El controlador y modelo estarán soportados por </a:t>
            </a:r>
            <a:r>
              <a:rPr lang="es-MX" sz="1800" b="0" i="0" u="sng" strike="noStrike" cap="none">
                <a:solidFill>
                  <a:schemeClr val="hlink"/>
                </a:solidFill>
                <a:latin typeface="Arial"/>
                <a:ea typeface="Arial"/>
                <a:cs typeface="Arial"/>
                <a:sym typeface="Arial"/>
                <a:hlinkClick r:id="rId3"/>
              </a:rPr>
              <a:t>Node.js</a:t>
            </a:r>
            <a:r>
              <a:rPr lang="es-MX" sz="1800" b="0" i="0" u="none" strike="noStrike" cap="none">
                <a:solidFill>
                  <a:schemeClr val="dk1"/>
                </a:solidFill>
                <a:latin typeface="Arial"/>
                <a:ea typeface="Arial"/>
                <a:cs typeface="Arial"/>
                <a:sym typeface="Arial"/>
              </a:rPr>
              <a:t> + Express. La base de datos será PostgreSQL y el despliegue se realizará con Nginx y PM2, garantizando estabilidad y escalabilidad.</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Work Sans Light"/>
              <a:ea typeface="Work Sans Light"/>
              <a:cs typeface="Work Sans Light"/>
              <a:sym typeface="Work Sans Light"/>
            </a:endParaRPr>
          </a:p>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latin typeface="Arial"/>
                <a:ea typeface="Arial"/>
                <a:cs typeface="Arial"/>
                <a:sym typeface="Arial"/>
              </a:rPr>
              <a:t>Diagrama de distribucción: </a:t>
            </a:r>
            <a:r>
              <a:rPr lang="es-MX" sz="1800" b="0" i="0" u="sng" strike="noStrike" cap="none">
                <a:solidFill>
                  <a:srgbClr val="1155CC"/>
                </a:solidFill>
                <a:highlight>
                  <a:srgbClr val="FFFFFF"/>
                </a:highlight>
                <a:latin typeface="Arial"/>
                <a:ea typeface="Arial"/>
                <a:cs typeface="Arial"/>
                <a:sym typeface="Arial"/>
                <a:hlinkClick r:id="rId4">
                  <a:extLst>
                    <a:ext uri="{A12FA001-AC4F-418D-AE19-62706E023703}">
                      <ahyp:hlinkClr xmlns:ahyp="http://schemas.microsoft.com/office/drawing/2018/hyperlinkcolor" val="tx"/>
                    </a:ext>
                  </a:extLst>
                </a:hlinkClick>
              </a:rPr>
              <a:t>https://github.com/LENICITA/estructura_optica-balamb/blob/master/_docs_/trim2/07_diagrama_distribucion/Diagrama%20de%20despliegue.drawio.png</a:t>
            </a:r>
            <a:endParaRPr sz="1800" b="0" i="0" u="none" strike="noStrike" cap="none">
              <a:solidFill>
                <a:schemeClr val="dk1"/>
              </a:solidFill>
              <a:latin typeface="Arial"/>
              <a:ea typeface="Arial"/>
              <a:cs typeface="Arial"/>
              <a:sym typeface="Arial"/>
            </a:endParaRPr>
          </a:p>
        </p:txBody>
      </p:sp>
      <p:pic>
        <p:nvPicPr>
          <p:cNvPr id="182" name="Google Shape;182;p10"/>
          <p:cNvPicPr preferRelativeResize="0"/>
          <p:nvPr/>
        </p:nvPicPr>
        <p:blipFill rotWithShape="1">
          <a:blip r:embed="rId5">
            <a:alphaModFix/>
          </a:blip>
          <a:srcRect/>
          <a:stretch/>
        </p:blipFill>
        <p:spPr>
          <a:xfrm>
            <a:off x="9774350" y="231100"/>
            <a:ext cx="1001000" cy="1001000"/>
          </a:xfrm>
          <a:prstGeom prst="rect">
            <a:avLst/>
          </a:prstGeom>
          <a:noFill/>
          <a:ln>
            <a:noFill/>
          </a:ln>
        </p:spPr>
      </p:pic>
      <p:pic>
        <p:nvPicPr>
          <p:cNvPr id="183" name="Google Shape;183;p10"/>
          <p:cNvPicPr preferRelativeResize="0"/>
          <p:nvPr/>
        </p:nvPicPr>
        <p:blipFill rotWithShape="1">
          <a:blip r:embed="rId6">
            <a:alphaModFix/>
          </a:blip>
          <a:srcRect t="-6911" b="13644"/>
          <a:stretch/>
        </p:blipFill>
        <p:spPr>
          <a:xfrm>
            <a:off x="7943775" y="167500"/>
            <a:ext cx="1830579" cy="1064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2"/>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Delimitación</a:t>
            </a:r>
            <a:endParaRPr/>
          </a:p>
        </p:txBody>
      </p:sp>
      <p:sp>
        <p:nvSpPr>
          <p:cNvPr id="189" name="Google Shape;189;p12"/>
          <p:cNvSpPr txBox="1"/>
          <p:nvPr/>
        </p:nvSpPr>
        <p:spPr>
          <a:xfrm>
            <a:off x="8694348" y="508463"/>
            <a:ext cx="1080000" cy="5400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MX" sz="1600" b="1" i="0" u="none" strike="noStrike" cap="none">
                <a:solidFill>
                  <a:schemeClr val="lt1"/>
                </a:solidFill>
                <a:latin typeface="Work Sans Light"/>
                <a:ea typeface="Work Sans Light"/>
                <a:cs typeface="Work Sans Light"/>
                <a:sym typeface="Work Sans Light"/>
              </a:rPr>
              <a:t>Logo Sistema</a:t>
            </a:r>
            <a:endParaRPr sz="1600" b="1" i="0" u="none" strike="noStrike" cap="none">
              <a:solidFill>
                <a:schemeClr val="lt1"/>
              </a:solidFill>
              <a:latin typeface="Work Sans Light"/>
              <a:ea typeface="Work Sans Light"/>
              <a:cs typeface="Work Sans Light"/>
              <a:sym typeface="Work Sans Light"/>
            </a:endParaRPr>
          </a:p>
        </p:txBody>
      </p:sp>
      <p:sp>
        <p:nvSpPr>
          <p:cNvPr id="190" name="Google Shape;190;p12"/>
          <p:cNvSpPr txBox="1"/>
          <p:nvPr/>
        </p:nvSpPr>
        <p:spPr>
          <a:xfrm>
            <a:off x="-313447" y="2210446"/>
            <a:ext cx="114474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Work Sans Light"/>
              <a:ea typeface="Work Sans Light"/>
              <a:cs typeface="Work Sans Light"/>
              <a:sym typeface="Work Sans Light"/>
            </a:endParaRPr>
          </a:p>
        </p:txBody>
      </p:sp>
      <p:pic>
        <p:nvPicPr>
          <p:cNvPr id="191" name="Google Shape;191;p12"/>
          <p:cNvPicPr preferRelativeResize="0"/>
          <p:nvPr/>
        </p:nvPicPr>
        <p:blipFill rotWithShape="1">
          <a:blip r:embed="rId3">
            <a:alphaModFix/>
          </a:blip>
          <a:srcRect/>
          <a:stretch/>
        </p:blipFill>
        <p:spPr>
          <a:xfrm>
            <a:off x="9774350" y="277975"/>
            <a:ext cx="1001000" cy="1001000"/>
          </a:xfrm>
          <a:prstGeom prst="rect">
            <a:avLst/>
          </a:prstGeom>
          <a:noFill/>
          <a:ln>
            <a:noFill/>
          </a:ln>
        </p:spPr>
      </p:pic>
      <p:pic>
        <p:nvPicPr>
          <p:cNvPr id="192" name="Google Shape;192;p12"/>
          <p:cNvPicPr preferRelativeResize="0"/>
          <p:nvPr/>
        </p:nvPicPr>
        <p:blipFill rotWithShape="1">
          <a:blip r:embed="rId4">
            <a:alphaModFix/>
          </a:blip>
          <a:srcRect t="-6911" b="13644"/>
          <a:stretch/>
        </p:blipFill>
        <p:spPr>
          <a:xfrm>
            <a:off x="7863050" y="175825"/>
            <a:ext cx="1911300" cy="1111550"/>
          </a:xfrm>
          <a:prstGeom prst="rect">
            <a:avLst/>
          </a:prstGeom>
          <a:noFill/>
          <a:ln>
            <a:noFill/>
          </a:ln>
        </p:spPr>
      </p:pic>
      <p:pic>
        <p:nvPicPr>
          <p:cNvPr id="193" name="Google Shape;193;p12"/>
          <p:cNvPicPr preferRelativeResize="0"/>
          <p:nvPr/>
        </p:nvPicPr>
        <p:blipFill rotWithShape="1">
          <a:blip r:embed="rId5">
            <a:alphaModFix/>
          </a:blip>
          <a:srcRect/>
          <a:stretch/>
        </p:blipFill>
        <p:spPr>
          <a:xfrm>
            <a:off x="138776" y="1592455"/>
            <a:ext cx="12011321" cy="44955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4"/>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Work Sans Medium"/>
              <a:buNone/>
            </a:pPr>
            <a:r>
              <a:rPr lang="es-MX" sz="3200">
                <a:solidFill>
                  <a:schemeClr val="lt1"/>
                </a:solidFill>
                <a:latin typeface="Work Sans Medium"/>
                <a:ea typeface="Work Sans Medium"/>
                <a:cs typeface="Work Sans Medium"/>
                <a:sym typeface="Work Sans Medium"/>
              </a:rPr>
              <a:t>Entregables Proyecto Formativo</a:t>
            </a:r>
            <a:br>
              <a:rPr lang="es-MX" sz="3200">
                <a:solidFill>
                  <a:schemeClr val="lt1"/>
                </a:solidFill>
                <a:latin typeface="Work Sans Medium"/>
                <a:ea typeface="Work Sans Medium"/>
                <a:cs typeface="Work Sans Medium"/>
                <a:sym typeface="Work Sans Medium"/>
              </a:rPr>
            </a:br>
            <a:r>
              <a:rPr lang="es-MX" sz="3200">
                <a:solidFill>
                  <a:schemeClr val="lt1"/>
                </a:solidFill>
                <a:latin typeface="Work Sans Medium"/>
                <a:ea typeface="Work Sans Medium"/>
                <a:cs typeface="Work Sans Medium"/>
                <a:sym typeface="Work Sans Medium"/>
              </a:rPr>
              <a:t>por Trimestre</a:t>
            </a:r>
            <a:endParaRPr sz="3200">
              <a:solidFill>
                <a:schemeClr val="lt1"/>
              </a:solidFill>
              <a:latin typeface="Work Sans Medium"/>
              <a:ea typeface="Work Sans Medium"/>
              <a:cs typeface="Work Sans Medium"/>
              <a:sym typeface="Work Sans Medium"/>
            </a:endParaRPr>
          </a:p>
        </p:txBody>
      </p:sp>
      <p:sp>
        <p:nvSpPr>
          <p:cNvPr id="200" name="Google Shape;200;p14"/>
          <p:cNvSpPr txBox="1"/>
          <p:nvPr/>
        </p:nvSpPr>
        <p:spPr>
          <a:xfrm>
            <a:off x="60019" y="1858732"/>
            <a:ext cx="3854400" cy="2246729"/>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Work Sans Light"/>
                <a:ea typeface="Work Sans Light"/>
                <a:cs typeface="Work Sans Light"/>
                <a:sym typeface="Work Sans Light"/>
              </a:rPr>
              <a:t>Diseño y Planeación del Proyecto</a:t>
            </a:r>
            <a:endParaRPr/>
          </a:p>
          <a:p>
            <a:pPr marL="171450" marR="0" lvl="0" indent="-17145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Work Sans Light"/>
                <a:ea typeface="Work Sans Light"/>
                <a:cs typeface="Work Sans Light"/>
                <a:sym typeface="Work Sans Light"/>
              </a:rPr>
              <a:t>Elaboración del Mapa de Procesos (BPMN del negocio)</a:t>
            </a:r>
            <a:endParaRPr/>
          </a:p>
          <a:p>
            <a:pPr marL="171450" marR="0" lvl="0" indent="-17145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Work Sans Light"/>
                <a:ea typeface="Work Sans Light"/>
                <a:cs typeface="Work Sans Light"/>
                <a:sym typeface="Work Sans Light"/>
              </a:rPr>
              <a:t>Aplicación de Técnicas de Recolección y Análisis Descriptivo</a:t>
            </a:r>
            <a:endParaRPr/>
          </a:p>
          <a:p>
            <a:pPr marL="171450" marR="0" lvl="0" indent="-17145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Work Sans Light"/>
                <a:ea typeface="Work Sans Light"/>
                <a:cs typeface="Work Sans Light"/>
                <a:sym typeface="Work Sans Light"/>
              </a:rPr>
              <a:t>Especificación de Requerimientos Funcionales y No Funcionales</a:t>
            </a:r>
            <a:endParaRPr/>
          </a:p>
          <a:p>
            <a:pPr marL="171450" marR="0" lvl="0" indent="-17145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Work Sans Light"/>
                <a:ea typeface="Work Sans Light"/>
                <a:cs typeface="Work Sans Light"/>
                <a:sym typeface="Work Sans Light"/>
              </a:rPr>
              <a:t>Validación de Requerimientos mediante Prototipo</a:t>
            </a:r>
            <a:endParaRPr/>
          </a:p>
          <a:p>
            <a:pPr marL="171450" marR="0" lvl="0" indent="-17145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Work Sans Light"/>
                <a:ea typeface="Work Sans Light"/>
                <a:cs typeface="Work Sans Light"/>
                <a:sym typeface="Work Sans Light"/>
              </a:rPr>
              <a:t>Control de Versiones</a:t>
            </a:r>
            <a:endParaRPr/>
          </a:p>
        </p:txBody>
      </p:sp>
      <p:grpSp>
        <p:nvGrpSpPr>
          <p:cNvPr id="201" name="Google Shape;201;p14"/>
          <p:cNvGrpSpPr/>
          <p:nvPr/>
        </p:nvGrpSpPr>
        <p:grpSpPr>
          <a:xfrm>
            <a:off x="60019" y="1521475"/>
            <a:ext cx="3239167" cy="347863"/>
            <a:chOff x="668953" y="1494678"/>
            <a:chExt cx="3239167" cy="347863"/>
          </a:xfrm>
        </p:grpSpPr>
        <p:sp>
          <p:nvSpPr>
            <p:cNvPr id="202" name="Google Shape;202;p14"/>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3" name="Google Shape;203;p14"/>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i="0" u="none" strike="noStrike" cap="none">
                  <a:solidFill>
                    <a:srgbClr val="38AA00"/>
                  </a:solidFill>
                  <a:latin typeface="Work Sans Light"/>
                  <a:ea typeface="Work Sans Light"/>
                  <a:cs typeface="Work Sans Light"/>
                  <a:sym typeface="Work Sans Light"/>
                </a:rPr>
                <a:t>Primer Trimestre</a:t>
              </a:r>
              <a:endParaRPr sz="1400" b="0" i="0" u="none" strike="noStrike" cap="none">
                <a:solidFill>
                  <a:srgbClr val="000000"/>
                </a:solidFill>
                <a:latin typeface="Arial"/>
                <a:ea typeface="Arial"/>
                <a:cs typeface="Arial"/>
                <a:sym typeface="Arial"/>
              </a:endParaRPr>
            </a:p>
          </p:txBody>
        </p:sp>
      </p:grpSp>
      <p:sp>
        <p:nvSpPr>
          <p:cNvPr id="204" name="Google Shape;204;p14"/>
          <p:cNvSpPr txBox="1"/>
          <p:nvPr/>
        </p:nvSpPr>
        <p:spPr>
          <a:xfrm>
            <a:off x="263377" y="4609000"/>
            <a:ext cx="4634700" cy="20319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Análisis Técnico y Estimación de Costos</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Diseño y Documentación de Casos de Uso</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Diseño del Modelo Entidad-Relación (Crow’s Foot)</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Normalización del Modelo Relacional (3FN)</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Elaboración del Diccionario de Datos</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Diseño del Diagrama de Clases (UML)</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Diseño del Diagrama de Despliegue (UML)</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Control de Versiones</a:t>
            </a:r>
            <a:endParaRPr>
              <a:solidFill>
                <a:schemeClr val="dk1"/>
              </a:solidFill>
              <a:latin typeface="Work Sans Light"/>
              <a:ea typeface="Work Sans Light"/>
              <a:cs typeface="Work Sans Light"/>
              <a:sym typeface="Work Sans Light"/>
            </a:endParaRPr>
          </a:p>
        </p:txBody>
      </p:sp>
      <p:grpSp>
        <p:nvGrpSpPr>
          <p:cNvPr id="205" name="Google Shape;205;p14"/>
          <p:cNvGrpSpPr/>
          <p:nvPr/>
        </p:nvGrpSpPr>
        <p:grpSpPr>
          <a:xfrm>
            <a:off x="263372" y="4261126"/>
            <a:ext cx="3239167" cy="347863"/>
            <a:chOff x="668953" y="1494678"/>
            <a:chExt cx="3239167" cy="347863"/>
          </a:xfrm>
        </p:grpSpPr>
        <p:sp>
          <p:nvSpPr>
            <p:cNvPr id="206" name="Google Shape;206;p14"/>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7" name="Google Shape;207;p14"/>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i="0" u="none" strike="noStrike" cap="none">
                  <a:solidFill>
                    <a:srgbClr val="38AA00"/>
                  </a:solidFill>
                  <a:latin typeface="Work Sans Light"/>
                  <a:ea typeface="Work Sans Light"/>
                  <a:cs typeface="Work Sans Light"/>
                  <a:sym typeface="Work Sans Light"/>
                </a:rPr>
                <a:t>Segundo Trimestre</a:t>
              </a:r>
              <a:endParaRPr sz="1400" b="0" i="0" u="none" strike="noStrike" cap="none">
                <a:solidFill>
                  <a:srgbClr val="000000"/>
                </a:solidFill>
                <a:latin typeface="Arial"/>
                <a:ea typeface="Arial"/>
                <a:cs typeface="Arial"/>
                <a:sym typeface="Arial"/>
              </a:endParaRPr>
            </a:p>
          </p:txBody>
        </p:sp>
      </p:grpSp>
      <p:grpSp>
        <p:nvGrpSpPr>
          <p:cNvPr id="208" name="Google Shape;208;p14"/>
          <p:cNvGrpSpPr/>
          <p:nvPr/>
        </p:nvGrpSpPr>
        <p:grpSpPr>
          <a:xfrm>
            <a:off x="3914420" y="1521475"/>
            <a:ext cx="3239167" cy="347863"/>
            <a:chOff x="668953" y="1494678"/>
            <a:chExt cx="3239167" cy="347863"/>
          </a:xfrm>
        </p:grpSpPr>
        <p:sp>
          <p:nvSpPr>
            <p:cNvPr id="209" name="Google Shape;209;p14"/>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0" name="Google Shape;210;p14"/>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i="0" u="none" strike="noStrike" cap="none">
                  <a:solidFill>
                    <a:srgbClr val="38AA00"/>
                  </a:solidFill>
                  <a:latin typeface="Work Sans Light"/>
                  <a:ea typeface="Work Sans Light"/>
                  <a:cs typeface="Work Sans Light"/>
                  <a:sym typeface="Work Sans Light"/>
                </a:rPr>
                <a:t>Tercer Trimestre</a:t>
              </a:r>
              <a:endParaRPr sz="1400" b="0" i="0" u="none" strike="noStrike" cap="none">
                <a:solidFill>
                  <a:srgbClr val="000000"/>
                </a:solidFill>
                <a:latin typeface="Arial"/>
                <a:ea typeface="Arial"/>
                <a:cs typeface="Arial"/>
                <a:sym typeface="Arial"/>
              </a:endParaRPr>
            </a:p>
          </p:txBody>
        </p:sp>
      </p:grpSp>
      <p:sp>
        <p:nvSpPr>
          <p:cNvPr id="211" name="Google Shape;211;p14"/>
          <p:cNvSpPr txBox="1"/>
          <p:nvPr/>
        </p:nvSpPr>
        <p:spPr>
          <a:xfrm>
            <a:off x="4011817" y="1847795"/>
            <a:ext cx="3854400" cy="22473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Implementación de Base de Datos (SQL / MongoDB)</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Pruebas y Consultas de Base de Datos (DML / CRUD)</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Encriptación y Seguridad de Datos</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Desarrollo Front-End con Simulación de Backend y Autenticación</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Control de Versiones</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Elaborar el prototipo navegable del software (HTML - CSS)</a:t>
            </a:r>
            <a:endParaRPr>
              <a:solidFill>
                <a:schemeClr val="dk1"/>
              </a:solidFill>
              <a:latin typeface="Work Sans Light"/>
              <a:ea typeface="Work Sans Light"/>
              <a:cs typeface="Work Sans Light"/>
              <a:sym typeface="Work Sans Light"/>
            </a:endParaRPr>
          </a:p>
        </p:txBody>
      </p:sp>
      <p:grpSp>
        <p:nvGrpSpPr>
          <p:cNvPr id="212" name="Google Shape;212;p14"/>
          <p:cNvGrpSpPr/>
          <p:nvPr/>
        </p:nvGrpSpPr>
        <p:grpSpPr>
          <a:xfrm>
            <a:off x="4659575" y="4456550"/>
            <a:ext cx="3239100" cy="347856"/>
            <a:chOff x="120703" y="795728"/>
            <a:chExt cx="3239100" cy="1046813"/>
          </a:xfrm>
        </p:grpSpPr>
        <p:sp>
          <p:nvSpPr>
            <p:cNvPr id="213" name="Google Shape;213;p14"/>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4" name="Google Shape;214;p14"/>
            <p:cNvSpPr txBox="1"/>
            <p:nvPr/>
          </p:nvSpPr>
          <p:spPr>
            <a:xfrm>
              <a:off x="120703" y="795728"/>
              <a:ext cx="3239100" cy="294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i="0" u="none" strike="noStrike" cap="none">
                  <a:solidFill>
                    <a:srgbClr val="38AA00"/>
                  </a:solidFill>
                  <a:latin typeface="Work Sans Light"/>
                  <a:ea typeface="Work Sans Light"/>
                  <a:cs typeface="Work Sans Light"/>
                  <a:sym typeface="Work Sans Light"/>
                </a:rPr>
                <a:t>Cuarto Trimestre</a:t>
              </a:r>
              <a:endParaRPr sz="1400" b="0" i="0" u="none" strike="noStrike" cap="none">
                <a:solidFill>
                  <a:srgbClr val="000000"/>
                </a:solidFill>
                <a:latin typeface="Arial"/>
                <a:ea typeface="Arial"/>
                <a:cs typeface="Arial"/>
                <a:sym typeface="Arial"/>
              </a:endParaRPr>
            </a:p>
          </p:txBody>
        </p:sp>
      </p:grpSp>
      <p:sp>
        <p:nvSpPr>
          <p:cNvPr id="215" name="Google Shape;215;p14"/>
          <p:cNvSpPr txBox="1"/>
          <p:nvPr/>
        </p:nvSpPr>
        <p:spPr>
          <a:xfrm>
            <a:off x="4659583" y="4804389"/>
            <a:ext cx="3854400" cy="9543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Implementación de API REST Segura</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Integración del Front-End con API REST (80%)</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Control de Versiones</a:t>
            </a:r>
            <a:endParaRPr>
              <a:solidFill>
                <a:schemeClr val="dk1"/>
              </a:solidFill>
              <a:latin typeface="Work Sans Light"/>
              <a:ea typeface="Work Sans Light"/>
              <a:cs typeface="Work Sans Light"/>
              <a:sym typeface="Work Sans Light"/>
            </a:endParaRPr>
          </a:p>
        </p:txBody>
      </p:sp>
      <p:grpSp>
        <p:nvGrpSpPr>
          <p:cNvPr id="216" name="Google Shape;216;p14"/>
          <p:cNvGrpSpPr/>
          <p:nvPr/>
        </p:nvGrpSpPr>
        <p:grpSpPr>
          <a:xfrm>
            <a:off x="7863041" y="1521478"/>
            <a:ext cx="3239167" cy="347863"/>
            <a:chOff x="668953" y="1494678"/>
            <a:chExt cx="3239167" cy="347863"/>
          </a:xfrm>
        </p:grpSpPr>
        <p:sp>
          <p:nvSpPr>
            <p:cNvPr id="217" name="Google Shape;217;p14"/>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8" name="Google Shape;218;p14"/>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i="0" u="none" strike="noStrike" cap="none">
                  <a:solidFill>
                    <a:srgbClr val="38AA00"/>
                  </a:solidFill>
                  <a:latin typeface="Work Sans Light"/>
                  <a:ea typeface="Work Sans Light"/>
                  <a:cs typeface="Work Sans Light"/>
                  <a:sym typeface="Work Sans Light"/>
                </a:rPr>
                <a:t>Quinto Trimestre</a:t>
              </a:r>
              <a:endParaRPr sz="1400" b="0" i="0" u="none" strike="noStrike" cap="none">
                <a:solidFill>
                  <a:srgbClr val="000000"/>
                </a:solidFill>
                <a:latin typeface="Arial"/>
                <a:ea typeface="Arial"/>
                <a:cs typeface="Arial"/>
                <a:sym typeface="Arial"/>
              </a:endParaRPr>
            </a:p>
          </p:txBody>
        </p:sp>
      </p:grpSp>
      <p:sp>
        <p:nvSpPr>
          <p:cNvPr id="219" name="Google Shape;219;p14"/>
          <p:cNvSpPr txBox="1"/>
          <p:nvPr/>
        </p:nvSpPr>
        <p:spPr>
          <a:xfrm>
            <a:off x="7898676" y="1954775"/>
            <a:ext cx="3298500" cy="18162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Codificación Completa del Proyecto</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Integración de API REST con Aplicación Móvil</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Documentación de API REST (Swagger)</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Aplicación de Metodología Ágil en Proyecto Móvil</a:t>
            </a:r>
            <a:endParaRPr>
              <a:solidFill>
                <a:schemeClr val="dk1"/>
              </a:solidFill>
              <a:latin typeface="Work Sans Light"/>
              <a:ea typeface="Work Sans Light"/>
              <a:cs typeface="Work Sans Light"/>
              <a:sym typeface="Work Sans Light"/>
            </a:endParaRPr>
          </a:p>
        </p:txBody>
      </p:sp>
      <p:pic>
        <p:nvPicPr>
          <p:cNvPr id="220" name="Google Shape;220;p14"/>
          <p:cNvPicPr preferRelativeResize="0"/>
          <p:nvPr/>
        </p:nvPicPr>
        <p:blipFill rotWithShape="1">
          <a:blip r:embed="rId3">
            <a:alphaModFix/>
          </a:blip>
          <a:srcRect/>
          <a:stretch/>
        </p:blipFill>
        <p:spPr>
          <a:xfrm>
            <a:off x="9774350" y="272763"/>
            <a:ext cx="1001000" cy="1001000"/>
          </a:xfrm>
          <a:prstGeom prst="rect">
            <a:avLst/>
          </a:prstGeom>
          <a:noFill/>
          <a:ln>
            <a:noFill/>
          </a:ln>
        </p:spPr>
      </p:pic>
      <p:pic>
        <p:nvPicPr>
          <p:cNvPr id="221" name="Google Shape;221;p14"/>
          <p:cNvPicPr preferRelativeResize="0"/>
          <p:nvPr/>
        </p:nvPicPr>
        <p:blipFill rotWithShape="1">
          <a:blip r:embed="rId4">
            <a:alphaModFix/>
          </a:blip>
          <a:srcRect t="-6911" b="13644"/>
          <a:stretch/>
        </p:blipFill>
        <p:spPr>
          <a:xfrm>
            <a:off x="7863050" y="194026"/>
            <a:ext cx="1911300" cy="1111550"/>
          </a:xfrm>
          <a:prstGeom prst="rect">
            <a:avLst/>
          </a:prstGeom>
          <a:noFill/>
          <a:ln>
            <a:noFill/>
          </a:ln>
        </p:spPr>
      </p:pic>
      <p:grpSp>
        <p:nvGrpSpPr>
          <p:cNvPr id="222" name="Google Shape;222;p14"/>
          <p:cNvGrpSpPr/>
          <p:nvPr/>
        </p:nvGrpSpPr>
        <p:grpSpPr>
          <a:xfrm>
            <a:off x="8075241" y="3856402"/>
            <a:ext cx="3239100" cy="347744"/>
            <a:chOff x="668953" y="1494678"/>
            <a:chExt cx="3239100" cy="347744"/>
          </a:xfrm>
        </p:grpSpPr>
        <p:sp>
          <p:nvSpPr>
            <p:cNvPr id="223" name="Google Shape;223;p14"/>
            <p:cNvSpPr/>
            <p:nvPr/>
          </p:nvSpPr>
          <p:spPr>
            <a:xfrm>
              <a:off x="781688" y="1796822"/>
              <a:ext cx="972000" cy="456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4" name="Google Shape;224;p14"/>
            <p:cNvSpPr txBox="1"/>
            <p:nvPr/>
          </p:nvSpPr>
          <p:spPr>
            <a:xfrm>
              <a:off x="668953" y="1494678"/>
              <a:ext cx="3239100" cy="294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a:solidFill>
                    <a:srgbClr val="38AA00"/>
                  </a:solidFill>
                  <a:latin typeface="Work Sans Light"/>
                  <a:ea typeface="Work Sans Light"/>
                  <a:cs typeface="Work Sans Light"/>
                  <a:sym typeface="Work Sans Light"/>
                </a:rPr>
                <a:t>Sexto</a:t>
              </a:r>
              <a:r>
                <a:rPr lang="es-MX" sz="1800" b="1" i="0" u="none" strike="noStrike" cap="none">
                  <a:solidFill>
                    <a:srgbClr val="38AA00"/>
                  </a:solidFill>
                  <a:latin typeface="Work Sans Light"/>
                  <a:ea typeface="Work Sans Light"/>
                  <a:cs typeface="Work Sans Light"/>
                  <a:sym typeface="Work Sans Light"/>
                </a:rPr>
                <a:t> Trimestre</a:t>
              </a:r>
              <a:endParaRPr sz="1400" b="0" i="0" u="none" strike="noStrike" cap="none">
                <a:solidFill>
                  <a:srgbClr val="000000"/>
                </a:solidFill>
                <a:latin typeface="Arial"/>
                <a:ea typeface="Arial"/>
                <a:cs typeface="Arial"/>
                <a:sym typeface="Arial"/>
              </a:endParaRPr>
            </a:p>
          </p:txBody>
        </p:sp>
      </p:grpSp>
      <p:sp>
        <p:nvSpPr>
          <p:cNvPr id="225" name="Google Shape;225;p14"/>
          <p:cNvSpPr txBox="1"/>
          <p:nvPr/>
        </p:nvSpPr>
        <p:spPr>
          <a:xfrm>
            <a:off x="8324550" y="4289575"/>
            <a:ext cx="3900600" cy="20319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Aplicación de Pruebas de Software</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Plan de Instalación, Respaldo y Migración</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Implementación de Modelo de Calidad del Software</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Documentación Técnica y de Usuario</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Despliegue del Aplicativo según Arquitectura UML</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Control de Versiones</a:t>
            </a:r>
            <a:endParaRPr>
              <a:solidFill>
                <a:schemeClr val="dk1"/>
              </a:solidFill>
              <a:latin typeface="Work Sans Light"/>
              <a:ea typeface="Work Sans Light"/>
              <a:cs typeface="Work Sans Light"/>
              <a:sym typeface="Work Sans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230" name="Google Shape;230;p15" descr="Imagen que contiene Interfaz de usuario gráfica&#10;&#10;Descripción generada automáticamente"/>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1381</Words>
  <Application>Microsoft Office PowerPoint</Application>
  <PresentationFormat>Panorámica</PresentationFormat>
  <Paragraphs>96</Paragraphs>
  <Slides>14</Slides>
  <Notes>14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14</vt:i4>
      </vt:variant>
    </vt:vector>
  </HeadingPairs>
  <TitlesOfParts>
    <vt:vector size="20" baseType="lpstr">
      <vt:lpstr>Calibri</vt:lpstr>
      <vt:lpstr>Work Sans Medium</vt:lpstr>
      <vt:lpstr>Arial</vt:lpstr>
      <vt:lpstr>Work Sans Light</vt:lpstr>
      <vt:lpstr>Work Sans</vt:lpstr>
      <vt:lpstr>Tema de Office</vt:lpstr>
      <vt:lpstr>Presentación de PowerPoint</vt:lpstr>
      <vt:lpstr>Presentación de PowerPoint</vt:lpstr>
      <vt:lpstr>Presentación de PowerPoint</vt:lpstr>
      <vt:lpstr>Presentación de PowerPoint</vt:lpstr>
      <vt:lpstr>Problema</vt:lpstr>
      <vt:lpstr>Presentación de PowerPoint</vt:lpstr>
      <vt:lpstr>Presentación de PowerPoint</vt:lpstr>
      <vt:lpstr>Presentación de PowerPoint</vt:lpstr>
      <vt:lpstr>Presentación de PowerPoint</vt:lpstr>
      <vt:lpstr>Justificación</vt:lpstr>
      <vt:lpstr>Alcance</vt:lpstr>
      <vt:lpstr>Delimitación</vt:lpstr>
      <vt:lpstr>Entregables Proyecto Formativo por Trimestre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Jorge Enrique Pedraza Sanchez</dc:creator>
  <cp:lastModifiedBy>shariht mosquera</cp:lastModifiedBy>
  <cp:revision>1</cp:revision>
  <dcterms:created xsi:type="dcterms:W3CDTF">2020-10-01T23:51:28Z</dcterms:created>
  <dcterms:modified xsi:type="dcterms:W3CDTF">2026-04-10T07:59:09Z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