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Work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pG6+LM5fCSAh/sqr4hVgE55fY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47D4DA-CCE8-484F-98D6-C7E6B95F0024}">
  <a:tblStyle styleId="{BF47D4DA-CCE8-484F-98D6-C7E6B95F00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regular.fntdata"/><Relationship Id="rId16" Type="http://schemas.openxmlformats.org/officeDocument/2006/relationships/slide" Target="slides/slide9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cf80a0a7_3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b0cf80a0a7_3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5974a197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2d5974a197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e239dec49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7e239dec49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644ba0a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6644ba0a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d4bfc4e7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acd4bfc4e7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cf80a0a7_3_10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b0cf80a0a7_3_10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b0cf80a0a7_3_1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cf80a0a7_3_11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b0cf80a0a7_3_11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g3b0cf80a0a7_3_1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b0cf80a0a7_3_1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b0cf80a0a7_3_1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cf80a0a7_3_1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b0cf80a0a7_3_1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3b0cf80a0a7_3_1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b0cf80a0a7_3_1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b0cf80a0a7_3_1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cf80a0a7_3_12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b0cf80a0a7_3_12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g3b0cf80a0a7_3_1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b0cf80a0a7_3_1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b0cf80a0a7_3_1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cf80a0a7_3_1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b0cf80a0a7_3_12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g3b0cf80a0a7_3_12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b0cf80a0a7_3_1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b0cf80a0a7_3_1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b0cf80a0a7_3_1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0cf80a0a7_3_13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b0cf80a0a7_3_13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g3b0cf80a0a7_3_13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g3b0cf80a0a7_3_13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b0cf80a0a7_3_13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g3b0cf80a0a7_3_1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b0cf80a0a7_3_1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b0cf80a0a7_3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cf80a0a7_3_1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b0cf80a0a7_3_1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b0cf80a0a7_3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b0cf80a0a7_3_1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cf80a0a7_3_14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b0cf80a0a7_3_14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g3b0cf80a0a7_3_14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g3b0cf80a0a7_3_1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b0cf80a0a7_3_1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b0cf80a0a7_3_1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cf80a0a7_3_15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b0cf80a0a7_3_15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g3b0cf80a0a7_3_15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g3b0cf80a0a7_3_1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b0cf80a0a7_3_1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b0cf80a0a7_3_1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0cf80a0a7_3_1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b0cf80a0a7_3_16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b0cf80a0a7_3_1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b0cf80a0a7_3_1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b0cf80a0a7_3_1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0cf80a0a7_3_169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b0cf80a0a7_3_169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b0cf80a0a7_3_1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b0cf80a0a7_3_1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b0cf80a0a7_3_1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0cf80a0a7_3_1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b0cf80a0a7_3_17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b0cf80a0a7_3_17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b0cf80a0a7_3_1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cf80a0a7_3_10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b0cf80a0a7_3_10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b0cf80a0a7_3_10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b0cf80a0a7_3_10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b0cf80a0a7_3_1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github.com/LENICITA/OPTICA-BALAMB.git" TargetMode="External"/><Relationship Id="rId5" Type="http://schemas.openxmlformats.org/officeDocument/2006/relationships/hyperlink" Target="https://mosqueralara23.atlassian.net/jira/software/projects/SCRUM/boards/1/backlog?atlOrigin=eyJpIjoiNTVmOGI1NDdlYWFkNDBhNGJlMDEyZjZmNjQxMjkwMjAiLCJwIjoiaiJ9" TargetMode="External"/><Relationship Id="rId6" Type="http://schemas.openxmlformats.org/officeDocument/2006/relationships/hyperlink" Target="https://app.diagrams.net/?title=BPMN_Optica.drawio&amp;lightbox=1&amp;page-id=bpmn1&amp;client=1#" TargetMode="External"/><Relationship Id="rId7" Type="http://schemas.openxmlformats.org/officeDocument/2006/relationships/hyperlink" Target="https://docs.google.com/document/d/1n43vYFybIFVbHR87X63YFq0VixQcvIpy/edit?usp=drive_link&amp;ouid=103196979525007365948&amp;rtpof=true&amp;sd=true" TargetMode="External"/><Relationship Id="rId8" Type="http://schemas.openxmlformats.org/officeDocument/2006/relationships/hyperlink" Target="https://www.figma.com/proto/ZvhyYW6nG8mijuXQCSGZ5Y/BADAMB?node-id=0-1&amp;t=L7sCSM1ogUFHH1IQ-1" TargetMode="Externa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6ndQlQiU26JgThhXw7l6_hZ4TLUc1m5o/view?usp=drive_link" TargetMode="External"/><Relationship Id="rId10" Type="http://schemas.openxmlformats.org/officeDocument/2006/relationships/hyperlink" Target="https://drive.google.com/file/d/1u9_-KP46fqV2yZOq35o3AdKbYDdeynJz/view?usp=drive_link" TargetMode="External"/><Relationship Id="rId13" Type="http://schemas.openxmlformats.org/officeDocument/2006/relationships/hyperlink" Target="https://drive.google.com/file/d/1JR7vsmwSiyDVkm9pB9kiIdWRo3JgboJ1/view?usp=drive_link" TargetMode="External"/><Relationship Id="rId12" Type="http://schemas.openxmlformats.org/officeDocument/2006/relationships/hyperlink" Target="https://drive.google.com/file/d/10ksJL6W2FGQciyFD4NgRaI30bw0cIZx8/view?usp=drive_link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document/d/1gr8YCIzhLERiNj8vIdt3Edb1wrcl0qRd/edit?usp=drive_link&amp;ouid=103196979525007365948&amp;rtpof=true&amp;sd=true" TargetMode="External"/><Relationship Id="rId9" Type="http://schemas.openxmlformats.org/officeDocument/2006/relationships/hyperlink" Target="https://docs.google.com/spreadsheets/d/1ZZVVz1ih1b3ANMnj9_UxdpAr09zImZiI/edit?usp=drive_link&amp;ouid=103196979525007365948&amp;rtpof=true&amp;sd=true" TargetMode="External"/><Relationship Id="rId5" Type="http://schemas.openxmlformats.org/officeDocument/2006/relationships/hyperlink" Target="https://drive.google.com/file/d/1fgGoXCyWyPCydNtqfzESKpIsTnAyU6In/view?usp=drive_link" TargetMode="External"/><Relationship Id="rId6" Type="http://schemas.openxmlformats.org/officeDocument/2006/relationships/hyperlink" Target="https://docs.google.com/spreadsheets/d/1-7vJMpmb16Q3hv3wgKpIIYQclHbRzk-o/edit?usp=drive_link&amp;ouid=103196979525007365948&amp;rtpof=true&amp;sd=true" TargetMode="External"/><Relationship Id="rId7" Type="http://schemas.openxmlformats.org/officeDocument/2006/relationships/hyperlink" Target="https://docs.google.com/document/d/13mUjXPoxmXUYAoGF-REpCvIEvgmv1p5l/edit?usp=drive_link&amp;ouid=103196979525007365948&amp;rtpof=true&amp;sd=true" TargetMode="External"/><Relationship Id="rId8" Type="http://schemas.openxmlformats.org/officeDocument/2006/relationships/hyperlink" Target="https://drive.google.com/file/d/1e6_o5qnVc3rV0SF9eyerUxqwhFkwNZxs/view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/>
          <p:nvPr/>
        </p:nvSpPr>
        <p:spPr>
          <a:xfrm>
            <a:off x="1303878" y="2136358"/>
            <a:ext cx="6453678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OPTICA BALAMB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7255240" y="3877946"/>
            <a:ext cx="547141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SHARIHT JORLEYNI MOSQUERA LARA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VALENTINA RAMIREZ BERNAL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LAURA SOFIA CABREJO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JUAN SEBASTIAN FORERO GUAYARA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FICHA: 3278645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0550" y="792750"/>
            <a:ext cx="1493276" cy="14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0cf80a0a7_3_95"/>
          <p:cNvSpPr txBox="1"/>
          <p:nvPr/>
        </p:nvSpPr>
        <p:spPr>
          <a:xfrm>
            <a:off x="860295" y="961461"/>
            <a:ext cx="62325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los clientes enfrentan limitaciones en la compra virtual de </a:t>
            </a:r>
            <a:r>
              <a:rPr lang="es-ES" sz="2000"/>
              <a:t>gafas</a:t>
            </a: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no pueden </a:t>
            </a:r>
            <a:r>
              <a:rPr lang="es-ES" sz="2000"/>
              <a:t>probarlas</a:t>
            </a: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antes de adquirirlas, lo que genera desconfianza e incertidumbre. Además, la falta de un control eficiente de inventario en plataformas digitales ocasiona errores de disponibilidad, retrasos en pedidos y desorganización administrativa.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Pregunta problema: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optimizar los procesos de venta y servicio al cliente en una óptica virtual mediante el uso de tecnologías como prueba de monturas en línea y sistemas de administración digital?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b0cf80a0a7_3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5591" y="2209003"/>
            <a:ext cx="3705278" cy="2566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5974a1974_0_1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2d5974a1974_0_11"/>
          <p:cNvSpPr txBox="1"/>
          <p:nvPr/>
        </p:nvSpPr>
        <p:spPr>
          <a:xfrm>
            <a:off x="562675" y="1593945"/>
            <a:ext cx="11169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Desarrollar un sistema de información para una óptica virtual que permita a los usuarios probar en línea las monturas, gestionar compras, pagos y entregas, y que proporcione al administrador herramientas efectivas para la administración del inventario, la gestión de clientes y repartidores de la empresa </a:t>
            </a:r>
            <a:r>
              <a:rPr lang="es-E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b="0" i="0" lang="es-ES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ptica </a:t>
            </a:r>
            <a:r>
              <a:rPr lang="es-E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0" i="0" lang="es-ES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alamb.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e239dec49_1_4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37e239dec49_1_4"/>
          <p:cNvSpPr txBox="1"/>
          <p:nvPr/>
        </p:nvSpPr>
        <p:spPr>
          <a:xfrm>
            <a:off x="757675" y="1899370"/>
            <a:ext cx="111693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módulo de prueba virtual de monturas mediante cámara o fotografía.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de visualización de información y cotización de gafas.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una plataforma de pagos en línea segura y confiable.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un módulo de gestión de inventario en tiempo real.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sistema de registro</a:t>
            </a:r>
            <a:r>
              <a:rPr lang="es-ES" sz="2000">
                <a:solidFill>
                  <a:schemeClr val="dk1"/>
                </a:solidFill>
              </a:rPr>
              <a:t> de clientes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sobre ventas, inventario y clientes para apoyar la toma de decisiones.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/>
        </p:nvSpPr>
        <p:spPr>
          <a:xfrm>
            <a:off x="903092" y="1997859"/>
            <a:ext cx="10385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busca transformar digitalmente el sector óptico, brindando a los usuarios confianza en la compra al poder probarse las gafas de manera virtual y facilitar el proceso de pago en línea. Para la empresa, permitirá una gestión más organizada del inventario y de la base de clientes.</a:t>
            </a:r>
            <a:b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nivel social, contribuye a democratizar el acceso a productos de salud visual mediante el uso de tecnologías innovadoras, promoviendo la digitalización de servicios en un sector tradicionalmente presencial</a:t>
            </a:r>
            <a:r>
              <a:rPr lang="es-ES" sz="2000"/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130565" y="1751617"/>
            <a:ext cx="1193087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8"/>
          <p:cNvSpPr/>
          <p:nvPr/>
        </p:nvSpPr>
        <p:spPr>
          <a:xfrm flipH="1">
            <a:off x="870035" y="1905487"/>
            <a:ext cx="110403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aplicativo web permitirá: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los clientes: probarse gafas en tiempo real, consultar información de productos, generar cotizaciones y realizar pagos seguros en línea.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 empresa: administrar inventario, registrar clientes, generar reportes de ventas y pedidos, y optimizar la logística y atención al cliente.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Vista:</a:t>
            </a:r>
            <a:r>
              <a:rPr lang="es-ES" sz="1800">
                <a:solidFill>
                  <a:schemeClr val="dk1"/>
                </a:solidFill>
              </a:rPr>
              <a:t> JavaScript (React).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Controlador/Modelo:</a:t>
            </a:r>
            <a:r>
              <a:rPr lang="es-ES" sz="1800">
                <a:solidFill>
                  <a:schemeClr val="dk1"/>
                </a:solidFill>
              </a:rPr>
              <a:t> Node.js + Express.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Puente de Datos:</a:t>
            </a:r>
            <a:r>
              <a:rPr lang="es-ES" sz="1800">
                <a:solidFill>
                  <a:schemeClr val="dk1"/>
                </a:solidFill>
              </a:rPr>
              <a:t> Prisma.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Base de Datos:</a:t>
            </a:r>
            <a:r>
              <a:rPr lang="es-ES" sz="1800">
                <a:solidFill>
                  <a:schemeClr val="dk1"/>
                </a:solidFill>
              </a:rPr>
              <a:t> PostgreSQL.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Despliegue:</a:t>
            </a:r>
            <a:r>
              <a:rPr lang="es-ES" sz="1800">
                <a:solidFill>
                  <a:schemeClr val="dk1"/>
                </a:solidFill>
              </a:rPr>
              <a:t> Nginx + PM2.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644ba0a30_0_2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0" name="Google Shape;210;g36644ba0a30_0_2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{BF47D4DA-CCE8-484F-98D6-C7E6B95F0024}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g36644ba0a30_0_2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644ba0a30_0_2"/>
          <p:cNvSpPr txBox="1"/>
          <p:nvPr/>
        </p:nvSpPr>
        <p:spPr>
          <a:xfrm>
            <a:off x="2656908" y="241350"/>
            <a:ext cx="70233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 TRIMESTRE 1</a:t>
            </a:r>
            <a:endParaRPr b="1"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GITHUB</a:t>
            </a:r>
            <a:endParaRPr b="0" i="0" sz="14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https://github.com/LENICITA/OPTICA-BALAMB.git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JIRA SOFTWARE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https://mosqueralara23.atlassian.net/jira/software/projects/SCRUM/boards/1/backlog?atlOrigin=eyJpIjoiNTVmOGI1NDdlYWFkNDBhNGJlMDEyZjZmNjQxMjkwMjAiLCJwIjoiaiJ9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MODELO BPMN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https://app.diagrams.net/?title=BPMN_Optica.drawio&amp;lightbox=1&amp;page-id=bpmn1&amp;client=1#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Requerimientos funcionales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7"/>
              </a:rPr>
              <a:t>https://docs.google.com/document/d/1n43vYFybIFVbHR87X63YFq0VixQcvIpy/edit?usp=drive_link&amp;ouid=103196979525007365948&amp;rtpof=true&amp;sd=true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Mockups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8"/>
              </a:rPr>
              <a:t>https://www.figma.com/proto/ZvhyYW6nG8mijuXQCSGZ5Y/BADAMB?node-id=0-1&amp;t=L7sCSM1ogUFHH1IQ-1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cd4bfc4e7_1_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8" name="Google Shape;218;g3acd4bfc4e7_1_1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{BF47D4DA-CCE8-484F-98D6-C7E6B95F0024}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g3acd4bfc4e7_1_1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cd4bfc4e7_1_1"/>
          <p:cNvSpPr txBox="1"/>
          <p:nvPr/>
        </p:nvSpPr>
        <p:spPr>
          <a:xfrm>
            <a:off x="323250" y="296875"/>
            <a:ext cx="11545500" cy="7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 TRIMESTRE 2</a:t>
            </a:r>
            <a:endParaRPr b="1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>
                <a:solidFill>
                  <a:srgbClr val="222222"/>
                </a:solidFill>
              </a:rPr>
              <a:t>CASOS DE USO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4"/>
              </a:rPr>
              <a:t>https://docs.google.com/document/d/1gr8YCIzhLERiNj8vIdt3Edb1wrcl0qRd/edit?usp=drive_link&amp;ouid=103196979525007365948&amp;rtpof=true&amp;sd=true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5"/>
              </a:rPr>
              <a:t>https://drive.google.com/file/d/1fgGoXCyWyPCydNtqfzESKpIsTnAyU6In/view?usp=drive_link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COSTOS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6"/>
              </a:rPr>
              <a:t>https://docs.google.com/spreadsheets/d/1-7vJMpmb16Q3hv3wgKpIIYQclHbRzk-o/edit?usp=drive_link&amp;ouid=103196979525007365948&amp;rtpof=true&amp;sd=true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7"/>
              </a:rPr>
              <a:t>https://docs.google.com/document/d/13mUjXPoxmXUYAoGF-REpCvIEvgmv1p5l/edit?usp=drive_link&amp;ouid=103196979525007365948&amp;rtpof=true&amp;sd=true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MER-</a:t>
            </a:r>
            <a:r>
              <a:rPr b="1" lang="es-ES">
                <a:solidFill>
                  <a:srgbClr val="222222"/>
                </a:solidFill>
              </a:rPr>
              <a:t>NOTACIÓN</a:t>
            </a:r>
            <a:r>
              <a:rPr b="1" lang="es-ES">
                <a:solidFill>
                  <a:srgbClr val="222222"/>
                </a:solidFill>
              </a:rPr>
              <a:t> CROW`S FOOT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8"/>
              </a:rPr>
              <a:t>https://drive.google.com/file/d/1e6_o5qnVc3rV0SF9eyerUxqwhFkwNZxs/view?usp=drive_link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NORMALIZACIÓN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9"/>
              </a:rPr>
              <a:t>https://docs.google.com/spreadsheets/d/1ZZVVz1ih1b3ANMnj9_UxdpAr09zImZiI/edit?usp=drive_link&amp;ouid=103196979525007365948&amp;rtpof=true&amp;sd=true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DIAGRAMA CLASES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0"/>
              </a:rPr>
              <a:t>https://drive.google.com/file/d/1u9_-KP46fqV2yZOq35o3AdKbYDdeynJz/view?usp=drive_link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DIAGRAMA  DESPLIEGUE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1"/>
              </a:rPr>
              <a:t>https://drive.google.com/file/d/16ndQlQiU26JgThhXw7l6_hZ4TLUc1m5o/view?usp=drive_link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DICCIONARIO DE DATOS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2"/>
              </a:rPr>
              <a:t>https://drive.google.com/file/d/10ksJL6W2FGQciyFD4NgRaI30bw0cIZx8/view?usp=drive_link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3"/>
              </a:rPr>
              <a:t>https://drive.google.com/file/d/1JR7vsmwSiyDVkm9pB9kiIdWRo3JgboJ1/view?usp=drive_link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